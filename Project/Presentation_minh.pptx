
<file path=[Content_Types].xml><?xml version="1.0" encoding="utf-8"?>
<Types xmlns="http://schemas.openxmlformats.org/package/2006/content-types">
  <Default Extension="fntdata" ContentType="application/x-fontdata"/>
  <Default Extension="jpg" ContentType="image/jpeg"/>
  <Default Extension="m4a" ContentType="audio/mp4"/>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1"/>
    <p:sldMasterId id="2147483665"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embeddedFontLst>
    <p:embeddedFont>
      <p:font typeface="Impact" panose="020B0806030902050204" pitchFamily="34" charset="0"/>
      <p:regular r:id="rId17"/>
    </p:embeddedFont>
    <p:embeddedFont>
      <p:font typeface="Lato" panose="020F0502020204030203" pitchFamily="34" charset="0"/>
      <p:regular r:id="rId18"/>
      <p:bold r:id="rId19"/>
      <p:italic r:id="rId20"/>
      <p:boldItalic r:id="rId21"/>
    </p:embeddedFont>
    <p:embeddedFont>
      <p:font typeface="Libre Franklin Medium"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97"/>
    <p:restoredTop sz="75382"/>
  </p:normalViewPr>
  <p:slideViewPr>
    <p:cSldViewPr snapToGrid="0">
      <p:cViewPr varScale="1">
        <p:scale>
          <a:sx n="186" d="100"/>
          <a:sy n="186" d="100"/>
        </p:scale>
        <p:origin x="125" y="37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8.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266e0ebf70d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are group 1 and our project is a trash classification model used to classify images of trash into 6 different classes.</a:t>
            </a:r>
            <a:endParaRPr/>
          </a:p>
          <a:p>
            <a:pPr marL="0" lvl="0" indent="0" algn="l" rtl="0">
              <a:spcBef>
                <a:spcPts val="0"/>
              </a:spcBef>
              <a:spcAft>
                <a:spcPts val="0"/>
              </a:spcAft>
              <a:buNone/>
            </a:pPr>
            <a:endParaRPr/>
          </a:p>
          <a:p>
            <a:pPr marL="0" lvl="0" indent="0" algn="l" rtl="0">
              <a:spcBef>
                <a:spcPts val="0"/>
              </a:spcBef>
              <a:spcAft>
                <a:spcPts val="0"/>
              </a:spcAft>
              <a:buNone/>
            </a:pPr>
            <a:r>
              <a:rPr lang="en"/>
              <a:t>time : 7 seconds </a:t>
            </a:r>
            <a:endParaRPr/>
          </a:p>
        </p:txBody>
      </p:sp>
      <p:sp>
        <p:nvSpPr>
          <p:cNvPr id="93" name="Google Shape;93;g266e0ebf70d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84f0f558f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problem that we are trying to solve is that over 2 billion tonnes of municipal solid waste is produced globally each year. </a:t>
            </a:r>
            <a:endParaRPr/>
          </a:p>
          <a:p>
            <a:pPr marL="0" lvl="0" indent="0" algn="l" rtl="0">
              <a:spcBef>
                <a:spcPts val="0"/>
              </a:spcBef>
              <a:spcAft>
                <a:spcPts val="0"/>
              </a:spcAft>
              <a:buNone/>
            </a:pPr>
            <a:endParaRPr/>
          </a:p>
          <a:p>
            <a:pPr marL="0" lvl="0" indent="0" algn="l" rtl="0">
              <a:spcBef>
                <a:spcPts val="0"/>
              </a:spcBef>
              <a:spcAft>
                <a:spcPts val="0"/>
              </a:spcAft>
              <a:buNone/>
            </a:pPr>
            <a:r>
              <a:rPr lang="en"/>
              <a:t>Time: 5 seconds </a:t>
            </a:r>
            <a:endParaRPr/>
          </a:p>
        </p:txBody>
      </p:sp>
      <p:sp>
        <p:nvSpPr>
          <p:cNvPr id="106" name="Google Shape;106;g3a84f0f558f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0c74f5c1d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With this number continuously increasing each year, we end up with too much waste to sort, meaning waste which could have been recycled ends up in landfills causing water, soil and, air pollution. </a:t>
            </a:r>
            <a:endParaRPr/>
          </a:p>
          <a:p>
            <a:pPr marL="0" lvl="0" indent="0" algn="l" rtl="0">
              <a:spcBef>
                <a:spcPts val="0"/>
              </a:spcBef>
              <a:spcAft>
                <a:spcPts val="0"/>
              </a:spcAft>
              <a:buNone/>
            </a:pPr>
            <a:endParaRPr/>
          </a:p>
          <a:p>
            <a:pPr marL="0" lvl="0" indent="0" algn="l" rtl="0">
              <a:spcBef>
                <a:spcPts val="0"/>
              </a:spcBef>
              <a:spcAft>
                <a:spcPts val="0"/>
              </a:spcAft>
              <a:buNone/>
            </a:pPr>
            <a:r>
              <a:rPr lang="en"/>
              <a:t>time : 9 seconds</a:t>
            </a:r>
            <a:endParaRPr/>
          </a:p>
        </p:txBody>
      </p:sp>
      <p:sp>
        <p:nvSpPr>
          <p:cNvPr id="144" name="Google Shape;144;g3a0c74f5c1d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a0c74f5c1d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proposed solution is to build a trash classification model that can properly sort trash into recycling categories. This could then be integrated with live video feed and machinery to efficiently sort trash, ultimately improving recycling rates and reducing environmental impact. This is an interesting problem to solve as it is at the intersection of deep learning and real-world sustainability. </a:t>
            </a:r>
            <a:endParaRPr/>
          </a:p>
          <a:p>
            <a:pPr marL="0" lvl="0" indent="0" algn="l" rtl="0">
              <a:spcBef>
                <a:spcPts val="0"/>
              </a:spcBef>
              <a:spcAft>
                <a:spcPts val="0"/>
              </a:spcAft>
              <a:buNone/>
            </a:pPr>
            <a:endParaRPr/>
          </a:p>
          <a:p>
            <a:pPr marL="0" lvl="0" indent="0" algn="l" rtl="0">
              <a:spcBef>
                <a:spcPts val="0"/>
              </a:spcBef>
              <a:spcAft>
                <a:spcPts val="0"/>
              </a:spcAft>
              <a:buNone/>
            </a:pPr>
            <a:r>
              <a:rPr lang="en"/>
              <a:t>*can remove last line if too long </a:t>
            </a:r>
            <a:endParaRPr/>
          </a:p>
          <a:p>
            <a:pPr marL="0" lvl="0" indent="0" algn="l" rtl="0">
              <a:spcBef>
                <a:spcPts val="0"/>
              </a:spcBef>
              <a:spcAft>
                <a:spcPts val="0"/>
              </a:spcAft>
              <a:buNone/>
            </a:pPr>
            <a:endParaRPr/>
          </a:p>
          <a:p>
            <a:pPr marL="0" lvl="0" indent="0" algn="l" rtl="0">
              <a:spcBef>
                <a:spcPts val="0"/>
              </a:spcBef>
              <a:spcAft>
                <a:spcPts val="0"/>
              </a:spcAft>
              <a:buNone/>
            </a:pPr>
            <a:r>
              <a:rPr lang="en"/>
              <a:t>time : 16 seconds </a:t>
            </a:r>
            <a:endParaRPr/>
          </a:p>
        </p:txBody>
      </p:sp>
      <p:sp>
        <p:nvSpPr>
          <p:cNvPr id="169" name="Google Shape;169;g3a0c74f5c1d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a0c74f5c1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Our modelling process began by combining the TrashNet and TrashBox datasets into a unified set of labeled trash images consolidated into 6 classes. We applied a 70/15/15 train–validation–test split, and augmented the training data to better capture real-world variation.</a:t>
            </a:r>
            <a:endParaRPr>
              <a:solidFill>
                <a:schemeClr val="dk1"/>
              </a:solidFill>
            </a:endParaRPr>
          </a:p>
          <a:p>
            <a:pPr marL="0" lvl="0" indent="0" algn="l" rtl="0">
              <a:lnSpc>
                <a:spcPct val="115000"/>
              </a:lnSpc>
              <a:spcBef>
                <a:spcPts val="1200"/>
              </a:spcBef>
              <a:spcAft>
                <a:spcPts val="0"/>
              </a:spcAft>
              <a:buNone/>
            </a:pPr>
            <a:r>
              <a:rPr lang="en">
                <a:solidFill>
                  <a:schemeClr val="dk1"/>
                </a:solidFill>
              </a:rPr>
              <a:t>We first trained MobileNetV3-Large a CNN classifier using transfer learning. Next, we used a YOLO object detector to crop all images, and retrained the CNN on these cropped regions while tuning key hyperparameters such as learning rate, weight decay, and dropout. The resulting model predicts six classes of waste and was integrated with a live video stream to demonstrate its ability to perform real-time classification.</a:t>
            </a:r>
            <a:endParaRPr/>
          </a:p>
          <a:p>
            <a:pPr marL="0" lvl="0" indent="0" algn="l" rtl="0">
              <a:spcBef>
                <a:spcPts val="1200"/>
              </a:spcBef>
              <a:spcAft>
                <a:spcPts val="0"/>
              </a:spcAft>
              <a:buNone/>
            </a:pPr>
            <a:r>
              <a:rPr lang="en"/>
              <a:t>Time: 34 seconds </a:t>
            </a:r>
            <a:endParaRPr/>
          </a:p>
          <a:p>
            <a:pPr marL="0" lvl="0" indent="0" algn="l" rtl="0">
              <a:spcBef>
                <a:spcPts val="0"/>
              </a:spcBef>
              <a:spcAft>
                <a:spcPts val="0"/>
              </a:spcAft>
              <a:buNone/>
            </a:pPr>
            <a:endParaRPr/>
          </a:p>
          <a:p>
            <a:pPr marL="0" lvl="0" indent="0" algn="l" rtl="0">
              <a:spcBef>
                <a:spcPts val="0"/>
              </a:spcBef>
              <a:spcAft>
                <a:spcPts val="0"/>
              </a:spcAft>
              <a:buNone/>
            </a:pPr>
            <a:r>
              <a:rPr lang="en"/>
              <a:t>**put train images and cropped images</a:t>
            </a:r>
            <a:endParaRPr/>
          </a:p>
          <a:p>
            <a:pPr marL="0" lvl="0" indent="0" algn="l" rtl="0">
              <a:spcBef>
                <a:spcPts val="0"/>
              </a:spcBef>
              <a:spcAft>
                <a:spcPts val="0"/>
              </a:spcAft>
              <a:buNone/>
            </a:pPr>
            <a:endParaRPr/>
          </a:p>
          <a:p>
            <a:pPr marL="457200" lvl="0" indent="-298450" algn="l" rtl="0">
              <a:lnSpc>
                <a:spcPct val="115000"/>
              </a:lnSpc>
              <a:spcBef>
                <a:spcPts val="1200"/>
              </a:spcBef>
              <a:spcAft>
                <a:spcPts val="0"/>
              </a:spcAft>
              <a:buSzPts val="1100"/>
              <a:buChar char="-"/>
            </a:pPr>
            <a:r>
              <a:rPr lang="en">
                <a:solidFill>
                  <a:schemeClr val="dk1"/>
                </a:solidFill>
              </a:rPr>
              <a:t>flips, color jitter, rotations, scaling, translations, and shearing</a:t>
            </a:r>
            <a:endParaRPr/>
          </a:p>
          <a:p>
            <a:pPr marL="0" lvl="0" indent="0" algn="l" rtl="0">
              <a:spcBef>
                <a:spcPts val="120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endParaRPr/>
          </a:p>
          <a:p>
            <a:pPr marL="0" lvl="0" indent="0" algn="l" rtl="0">
              <a:spcBef>
                <a:spcPts val="1200"/>
              </a:spcBef>
              <a:spcAft>
                <a:spcPts val="0"/>
              </a:spcAft>
              <a:buNone/>
            </a:pPr>
            <a:endParaRPr/>
          </a:p>
        </p:txBody>
      </p:sp>
      <p:sp>
        <p:nvSpPr>
          <p:cNvPr id="187" name="Google Shape;187;g3a0c74f5c1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a0c74f5c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~60 seconds </a:t>
            </a:r>
            <a:endParaRPr/>
          </a:p>
        </p:txBody>
      </p:sp>
      <p:sp>
        <p:nvSpPr>
          <p:cNvPr id="243" name="Google Shape;243;g3a0c74f5c1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a0c74f5c1d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 (quantitatively) tracked training and validation accuracy and loss across epochs. While accuracy continued to improve, the validation loss eventually increased, as cross-entropy penalizes highly confident wrong predictions (more heavily, even if accuracy rises). The validation F1 score confirmed that the model was generally making correct predictions without many false classifications. We selected the model at epoch 16, which achieved the best (combination of) validation accuracy and F1 score.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time : 23 seconds</a:t>
            </a:r>
            <a:endParaRPr dirty="0"/>
          </a:p>
        </p:txBody>
      </p:sp>
      <p:sp>
        <p:nvSpPr>
          <p:cNvPr id="250" name="Google Shape;250;g3a0c74f5c1d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a84f0f558f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 our test set, the model achieved </a:t>
            </a:r>
            <a:r>
              <a:rPr lang="en" b="1">
                <a:solidFill>
                  <a:schemeClr val="dk1"/>
                </a:solidFill>
              </a:rPr>
              <a:t>82% accuracy</a:t>
            </a:r>
            <a:r>
              <a:rPr lang="en">
                <a:solidFill>
                  <a:schemeClr val="dk1"/>
                </a:solidFill>
              </a:rPr>
              <a:t> and an </a:t>
            </a:r>
            <a:r>
              <a:rPr lang="en" b="1">
                <a:solidFill>
                  <a:schemeClr val="dk1"/>
                </a:solidFill>
              </a:rPr>
              <a:t>F1 score of 0.82</a:t>
            </a:r>
            <a:r>
              <a:rPr lang="en">
                <a:solidFill>
                  <a:schemeClr val="dk1"/>
                </a:solidFill>
              </a:rPr>
              <a:t>, indicating strong recall and precision—meaning it identifies items correctly fairly often and doesn’t mislabel many incorrect items.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Upon examining the confusion matrix, classes are occasionally predicted as </a:t>
            </a:r>
            <a:r>
              <a:rPr lang="en" b="1">
                <a:solidFill>
                  <a:schemeClr val="dk1"/>
                </a:solidFill>
              </a:rPr>
              <a:t>‘other’</a:t>
            </a:r>
            <a:r>
              <a:rPr lang="en">
                <a:solidFill>
                  <a:schemeClr val="dk1"/>
                </a:solidFill>
              </a:rPr>
              <a:t>, since it functions as a catch-all category. We observed that </a:t>
            </a:r>
            <a:r>
              <a:rPr lang="en" b="1">
                <a:solidFill>
                  <a:schemeClr val="dk1"/>
                </a:solidFill>
              </a:rPr>
              <a:t>glass, metal, and plastic</a:t>
            </a:r>
            <a:r>
              <a:rPr lang="en">
                <a:solidFill>
                  <a:schemeClr val="dk1"/>
                </a:solidFill>
              </a:rPr>
              <a:t> are often confused with one another due to their similar </a:t>
            </a:r>
            <a:r>
              <a:rPr lang="en" b="1">
                <a:solidFill>
                  <a:schemeClr val="dk1"/>
                </a:solidFill>
              </a:rPr>
              <a:t>shininess</a:t>
            </a:r>
            <a:r>
              <a:rPr lang="en">
                <a:solidFill>
                  <a:schemeClr val="dk1"/>
                </a:solidFill>
              </a:rPr>
              <a:t>, while </a:t>
            </a:r>
            <a:r>
              <a:rPr lang="en" b="1">
                <a:solidFill>
                  <a:schemeClr val="dk1"/>
                </a:solidFill>
              </a:rPr>
              <a:t>paper</a:t>
            </a:r>
            <a:r>
              <a:rPr lang="en">
                <a:solidFill>
                  <a:schemeClr val="dk1"/>
                </a:solidFill>
              </a:rPr>
              <a:t> is commonly mistaken for </a:t>
            </a:r>
            <a:r>
              <a:rPr lang="en" b="1">
                <a:solidFill>
                  <a:schemeClr val="dk1"/>
                </a:solidFill>
              </a:rPr>
              <a:t>cardboard</a:t>
            </a:r>
            <a:r>
              <a:rPr lang="en">
                <a:solidFill>
                  <a:schemeClr val="dk1"/>
                </a:solidFill>
              </a:rPr>
              <a:t> or </a:t>
            </a:r>
            <a:r>
              <a:rPr lang="en" b="1">
                <a:solidFill>
                  <a:schemeClr val="dk1"/>
                </a:solidFill>
              </a:rPr>
              <a:t>plastic</a:t>
            </a:r>
            <a:r>
              <a:rPr lang="en">
                <a:solidFill>
                  <a:schemeClr val="dk1"/>
                </a:solidFill>
              </a:rPr>
              <a:t> because of similarities in color, texture, and reflectiveness.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Overall, the model’s errors tend to arise from similarities in </a:t>
            </a:r>
            <a:r>
              <a:rPr lang="en" b="1">
                <a:solidFill>
                  <a:schemeClr val="dk1"/>
                </a:solidFill>
              </a:rPr>
              <a:t>shine, color, and shape</a:t>
            </a:r>
            <a:r>
              <a:rPr lang="en">
                <a:solidFill>
                  <a:schemeClr val="dk1"/>
                </a:solidFill>
              </a:rPr>
              <a:t> between object types.</a:t>
            </a:r>
            <a:endParaRPr>
              <a:solidFill>
                <a:schemeClr val="dk1"/>
              </a:solidFill>
            </a:endParaRPr>
          </a:p>
          <a:p>
            <a:pPr marL="0" lvl="0" indent="0" algn="l" rtl="0">
              <a:spcBef>
                <a:spcPts val="1200"/>
              </a:spcBef>
              <a:spcAft>
                <a:spcPts val="0"/>
              </a:spcAft>
              <a:buNone/>
            </a:pPr>
            <a:r>
              <a:rPr lang="en"/>
              <a:t>Time: 32 seconds </a:t>
            </a:r>
            <a:endParaRPr/>
          </a:p>
        </p:txBody>
      </p:sp>
      <p:sp>
        <p:nvSpPr>
          <p:cNvPr id="257" name="Google Shape;257;g3a84f0f558f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a84f0f558f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Here, we are qualitatively testing a few new examples, </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dirty="0">
                <a:solidFill>
                  <a:schemeClr val="dk1"/>
                </a:solidFill>
              </a:rPr>
              <a:t>Generally, it does pretty well at classifying but…</a:t>
            </a: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On the right, we have some incorrect classifications. The oreo box is misclassified as paper likely because of its colors and the direct angle. The other is plastic but predicted as glass due to the lighting (even to the human eye).</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 dirty="0">
                <a:solidFill>
                  <a:schemeClr val="dk1"/>
                </a:solidFill>
              </a:rPr>
              <a:t>time : 15 seconds </a:t>
            </a:r>
            <a:endParaRPr dirty="0">
              <a:solidFill>
                <a:schemeClr val="dk1"/>
              </a:solidFill>
            </a:endParaRPr>
          </a:p>
        </p:txBody>
      </p:sp>
      <p:sp>
        <p:nvSpPr>
          <p:cNvPr id="288" name="Google Shape;288;g3a84f0f558f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a0c74f5c1d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a:solidFill>
                  <a:schemeClr val="dk1"/>
                </a:solidFill>
              </a:rPr>
              <a:t>Throughout this project, we learned a number of lessons that would have been extremely helpful to know at the start—and that we think would benefit anyone attempting a similar waste-classification system.</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a:solidFill>
                  <a:schemeClr val="dk1"/>
                </a:solidFill>
              </a:rPr>
              <a:t>First, loading files directly into Colab is dramatically faster than reading them from Google Drive. Colab uses fast local SSD storage, while Drive is a slow, network-mounted filesystem, so using Drive quickly becomes a bottleneck.</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We also learned that </a:t>
            </a:r>
            <a:r>
              <a:rPr lang="en" b="1">
                <a:solidFill>
                  <a:schemeClr val="dk1"/>
                </a:solidFill>
              </a:rPr>
              <a:t>data quality matters more than model complexity</a:t>
            </a:r>
            <a:r>
              <a:rPr lang="en">
                <a:solidFill>
                  <a:schemeClr val="dk1"/>
                </a:solidFill>
              </a:rPr>
              <a:t>. Having diverse images—different lighting conditions, angles, and variations of each trash type—improves performance far more than tweaking architectures or hyperparameters.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Lighting turned out to be one of the biggest challenges. The same object can be classified differently under bright lights, shadows, or uneven illumination. Strong augmentation is essential if the model is expected to work in the real world.</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We also saw that YOLO doesn’t always detect only the trash. It can sometimes pick up hands, backgrounds, or other objects in the scene, which showed us how important clean annotations and consistent bounding boxes are.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For real-time video, we discovered that processing every single frame is unnecessary and actually causes lag. Techniques like frame-skipping, cooldown windows, and prediction smoothing made our live demo much more stable.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Another takeaway was the importance of compute resources. Colab’s limited GPU time directly shaped what we could train. More consistent access to GPU compute led to better-trained models and more reliable results.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a:solidFill>
                  <a:schemeClr val="dk1"/>
                </a:solidFill>
              </a:rPr>
              <a:t>Finally, reproducing results from research papers is harder than it looks. Many papers assume huge datasets, heavy compute, or preprocessing steps that aren’t fully explained. Matching their performance required a lot of experimentation and, in some cases, wasn’t feasible with our resources.</a:t>
            </a:r>
            <a:endParaRPr>
              <a:solidFill>
                <a:schemeClr val="dk1"/>
              </a:solidFill>
            </a:endParaRPr>
          </a:p>
          <a:p>
            <a:pPr marL="0" lvl="0" indent="0" algn="l" rtl="0">
              <a:lnSpc>
                <a:spcPct val="115000"/>
              </a:lnSpc>
              <a:spcBef>
                <a:spcPts val="1200"/>
              </a:spcBef>
              <a:spcAft>
                <a:spcPts val="0"/>
              </a:spcAft>
              <a:buNone/>
            </a:pPr>
            <a:r>
              <a:rPr lang="en">
                <a:solidFill>
                  <a:schemeClr val="dk1"/>
                </a:solidFill>
              </a:rPr>
              <a:t>Time: </a:t>
            </a:r>
            <a:endParaRPr>
              <a:solidFill>
                <a:schemeClr val="dk1"/>
              </a:solidFill>
            </a:endParaRPr>
          </a:p>
          <a:p>
            <a:pPr marL="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0"/>
              </a:spcAft>
              <a:buNone/>
            </a:pPr>
            <a:r>
              <a:rPr lang="en" b="1">
                <a:solidFill>
                  <a:schemeClr val="dk1"/>
                </a:solidFill>
              </a:rPr>
              <a:t>Hard negative examples are essential.</a:t>
            </a:r>
            <a:br>
              <a:rPr lang="en" b="1">
                <a:solidFill>
                  <a:schemeClr val="dk1"/>
                </a:solidFill>
              </a:rPr>
            </a:br>
            <a:r>
              <a:rPr lang="en">
                <a:solidFill>
                  <a:schemeClr val="dk1"/>
                </a:solidFill>
              </a:rPr>
              <a:t>Through our analysis, we realized that </a:t>
            </a:r>
            <a:r>
              <a:rPr lang="en" b="1">
                <a:solidFill>
                  <a:schemeClr val="dk1"/>
                </a:solidFill>
              </a:rPr>
              <a:t>hard negative examples would be essential</a:t>
            </a:r>
            <a:r>
              <a:rPr lang="en">
                <a:solidFill>
                  <a:schemeClr val="dk1"/>
                </a:solidFill>
              </a:rPr>
              <a:t> for improving performance. Many of our misclassifications occurred between visually similar objects (for example, shiny plastic being confused with glass or brown paper resembling cardboard). Incorporating deliberately confusing, look-alike samples into the dataset is a technique we now recognize as important for helping the model learn finer distinctions.</a:t>
            </a:r>
            <a:endParaRPr>
              <a:solidFill>
                <a:schemeClr val="dk1"/>
              </a:solidFill>
            </a:endParaRPr>
          </a:p>
          <a:p>
            <a:pPr marL="457200" lvl="0" indent="0" algn="l" rtl="0">
              <a:lnSpc>
                <a:spcPct val="115000"/>
              </a:lnSpc>
              <a:spcBef>
                <a:spcPts val="1200"/>
              </a:spcBef>
              <a:spcAft>
                <a:spcPts val="0"/>
              </a:spcAft>
              <a:buNone/>
            </a:pPr>
            <a:endParaRPr>
              <a:solidFill>
                <a:schemeClr val="dk1"/>
              </a:solidFill>
            </a:endParaRPr>
          </a:p>
          <a:p>
            <a:pPr marL="0" lvl="0" indent="0" algn="l" rtl="0">
              <a:spcBef>
                <a:spcPts val="1200"/>
              </a:spcBef>
              <a:spcAft>
                <a:spcPts val="0"/>
              </a:spcAft>
              <a:buNone/>
            </a:pPr>
            <a:endParaRPr>
              <a:solidFill>
                <a:schemeClr val="dk1"/>
              </a:solidFill>
            </a:endParaRPr>
          </a:p>
        </p:txBody>
      </p:sp>
      <p:sp>
        <p:nvSpPr>
          <p:cNvPr id="307" name="Google Shape;307;g3a0c74f5c1d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a84f0f558f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also noticed that the live video stream became laggy because our model was running on the CPU instead of the GPU, which really slows down frame-by-frame predictions. Even though MobileNetV3 is a lightweight model, CPU is still slow in real-time use cases.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 top of that, our input resolution was fairly high, so each frame needed to be resized and preprocessed before the model could run, which added extra overhead. We were also processing </a:t>
            </a:r>
            <a:r>
              <a:rPr lang="en" b="1">
                <a:solidFill>
                  <a:schemeClr val="dk1"/>
                </a:solidFill>
              </a:rPr>
              <a:t>every single frame</a:t>
            </a:r>
            <a:r>
              <a:rPr lang="en">
                <a:solidFill>
                  <a:schemeClr val="dk1"/>
                </a:solidFill>
              </a:rPr>
              <a:t>, which isn’t necessary for real-time classification and only increases the workload.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In a real deployment, we’d improve performance by running MobileNetV3 on the GPU, lowering the input resolution, and skipping frames or using smoothing techniques to keep the video stream responsive.</a:t>
            </a:r>
            <a:endParaRPr>
              <a:solidFill>
                <a:schemeClr val="dk1"/>
              </a:solidFill>
            </a:endParaRPr>
          </a:p>
          <a:p>
            <a:pPr marL="0" lvl="0" indent="0" algn="l" rtl="0">
              <a:spcBef>
                <a:spcPts val="1200"/>
              </a:spcBef>
              <a:spcAft>
                <a:spcPts val="0"/>
              </a:spcAft>
              <a:buNone/>
            </a:pPr>
            <a:endParaRPr>
              <a:solidFill>
                <a:schemeClr val="dk1"/>
              </a:solidFill>
            </a:endParaRPr>
          </a:p>
        </p:txBody>
      </p:sp>
      <p:sp>
        <p:nvSpPr>
          <p:cNvPr id="336" name="Google Shape;336;g3a84f0f558f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a84f0f558f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Lastly, we learned that reflections can impact YOLOs ability to detect the objects and was able to detect them better on non-reflective materials. </a:t>
            </a:r>
            <a:endParaRPr/>
          </a:p>
        </p:txBody>
      </p:sp>
      <p:sp>
        <p:nvSpPr>
          <p:cNvPr id="346" name="Google Shape;346;g3a84f0f558f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a84f0f558f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did you learn from doing this project?</a:t>
            </a:r>
            <a:endParaRPr/>
          </a:p>
          <a:p>
            <a:pPr marL="0" lvl="0" indent="0" algn="l" rtl="0">
              <a:spcBef>
                <a:spcPts val="0"/>
              </a:spcBef>
              <a:spcAft>
                <a:spcPts val="0"/>
              </a:spcAft>
              <a:buNone/>
            </a:pPr>
            <a:r>
              <a:rPr lang="en"/>
              <a:t>Focus on things that you would have liked to know before taking on this project, or things that your classmates may benefit from knowing before they take on a similar project. This could include computational challenges, training techniques, challenges with reproducing published results, or any tricks you learned by working on this project.</a:t>
            </a:r>
            <a:endParaRPr/>
          </a:p>
        </p:txBody>
      </p:sp>
      <p:sp>
        <p:nvSpPr>
          <p:cNvPr id="356" name="Google Shape;356;g3a84f0f558f_0_6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405950" y="190785"/>
            <a:ext cx="2332200" cy="388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sz="2400" b="1" i="0">
                <a:solidFill>
                  <a:srgbClr val="002E64"/>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62" name="Google Shape;62;p14"/>
          <p:cNvSpPr txBox="1">
            <a:spLocks noGrp="1"/>
          </p:cNvSpPr>
          <p:nvPr>
            <p:ph type="body" idx="1"/>
          </p:nvPr>
        </p:nvSpPr>
        <p:spPr>
          <a:xfrm>
            <a:off x="249317" y="2072116"/>
            <a:ext cx="8645400" cy="23673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100"/>
              <a:buNone/>
              <a:defRPr sz="3000" b="1" i="0">
                <a:solidFill>
                  <a:srgbClr val="002E64"/>
                </a:solidFill>
                <a:latin typeface="Arial"/>
                <a:ea typeface="Arial"/>
                <a:cs typeface="Arial"/>
                <a:sym typeface="Arial"/>
              </a:defRPr>
            </a:lvl1pPr>
            <a:lvl2pPr marL="914400" lvl="1" indent="-228600" algn="l" rtl="0">
              <a:spcBef>
                <a:spcPts val="0"/>
              </a:spcBef>
              <a:spcAft>
                <a:spcPts val="0"/>
              </a:spcAft>
              <a:buSzPts val="1100"/>
              <a:buNone/>
              <a:defRPr/>
            </a:lvl2pPr>
            <a:lvl3pPr marL="1371600" lvl="2" indent="-228600" algn="l" rtl="0">
              <a:spcBef>
                <a:spcPts val="0"/>
              </a:spcBef>
              <a:spcAft>
                <a:spcPts val="0"/>
              </a:spcAft>
              <a:buSzPts val="1100"/>
              <a:buNone/>
              <a:defRPr/>
            </a:lvl3pPr>
            <a:lvl4pPr marL="1828800" lvl="3" indent="-228600" algn="l" rtl="0">
              <a:spcBef>
                <a:spcPts val="0"/>
              </a:spcBef>
              <a:spcAft>
                <a:spcPts val="0"/>
              </a:spcAft>
              <a:buSzPts val="1100"/>
              <a:buNone/>
              <a:defRPr/>
            </a:lvl4pPr>
            <a:lvl5pPr marL="2286000" lvl="4" indent="-228600" algn="l" rtl="0">
              <a:spcBef>
                <a:spcPts val="0"/>
              </a:spcBef>
              <a:spcAft>
                <a:spcPts val="0"/>
              </a:spcAft>
              <a:buSzPts val="1100"/>
              <a:buNone/>
              <a:defRPr/>
            </a:lvl5pPr>
            <a:lvl6pPr marL="2743200" lvl="5" indent="-228600" algn="l" rtl="0">
              <a:spcBef>
                <a:spcPts val="0"/>
              </a:spcBef>
              <a:spcAft>
                <a:spcPts val="0"/>
              </a:spcAft>
              <a:buSzPts val="1100"/>
              <a:buNone/>
              <a:defRPr/>
            </a:lvl6pPr>
            <a:lvl7pPr marL="3200400" lvl="6" indent="-228600" algn="l" rtl="0">
              <a:spcBef>
                <a:spcPts val="0"/>
              </a:spcBef>
              <a:spcAft>
                <a:spcPts val="0"/>
              </a:spcAft>
              <a:buSzPts val="1100"/>
              <a:buNone/>
              <a:defRPr/>
            </a:lvl7pPr>
            <a:lvl8pPr marL="3657600" lvl="7" indent="-228600" algn="l" rtl="0">
              <a:spcBef>
                <a:spcPts val="0"/>
              </a:spcBef>
              <a:spcAft>
                <a:spcPts val="0"/>
              </a:spcAft>
              <a:buSzPts val="1100"/>
              <a:buNone/>
              <a:defRPr/>
            </a:lvl8pPr>
            <a:lvl9pPr marL="4114800" lvl="8" indent="-228600" algn="l" rtl="0">
              <a:spcBef>
                <a:spcPts val="0"/>
              </a:spcBef>
              <a:spcAft>
                <a:spcPts val="0"/>
              </a:spcAft>
              <a:buSzPts val="1100"/>
              <a:buNone/>
              <a:defRPr/>
            </a:lvl9pPr>
          </a:lstStyle>
          <a:p>
            <a:endParaRPr/>
          </a:p>
        </p:txBody>
      </p:sp>
      <p:sp>
        <p:nvSpPr>
          <p:cNvPr id="63" name="Google Shape;63;p1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4" name="Google Shape;64;p1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5" name="Google Shape;65;p14"/>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405950" y="190785"/>
            <a:ext cx="2332200" cy="388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sz="2400" b="1" i="0">
                <a:solidFill>
                  <a:srgbClr val="002E64"/>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68" name="Google Shape;68;p1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9" name="Google Shape;69;p1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0" name="Google Shape;70;p15"/>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71"/>
        <p:cNvGrpSpPr/>
        <p:nvPr/>
      </p:nvGrpSpPr>
      <p:grpSpPr>
        <a:xfrm>
          <a:off x="0" y="0"/>
          <a:ext cx="0" cy="0"/>
          <a:chOff x="0" y="0"/>
          <a:chExt cx="0" cy="0"/>
        </a:xfrm>
      </p:grpSpPr>
      <p:sp>
        <p:nvSpPr>
          <p:cNvPr id="72" name="Google Shape;72;p16"/>
          <p:cNvSpPr txBox="1">
            <a:spLocks noGrp="1"/>
          </p:cNvSpPr>
          <p:nvPr>
            <p:ph type="ctrTitle"/>
          </p:nvPr>
        </p:nvSpPr>
        <p:spPr>
          <a:xfrm>
            <a:off x="1488471" y="190785"/>
            <a:ext cx="6167100" cy="388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sz="2400" b="1" i="0">
                <a:solidFill>
                  <a:srgbClr val="002E64"/>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3" name="Google Shape;73;p16"/>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5" name="Google Shape;75;p1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6" name="Google Shape;76;p16"/>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77"/>
        <p:cNvGrpSpPr/>
        <p:nvPr/>
      </p:nvGrpSpPr>
      <p:grpSpPr>
        <a:xfrm>
          <a:off x="0" y="0"/>
          <a:ext cx="0" cy="0"/>
          <a:chOff x="0" y="0"/>
          <a:chExt cx="0" cy="0"/>
        </a:xfrm>
      </p:grpSpPr>
      <p:sp>
        <p:nvSpPr>
          <p:cNvPr id="78" name="Google Shape;78;p17"/>
          <p:cNvSpPr/>
          <p:nvPr/>
        </p:nvSpPr>
        <p:spPr>
          <a:xfrm>
            <a:off x="0" y="4800599"/>
            <a:ext cx="9144000" cy="342900"/>
          </a:xfrm>
          <a:custGeom>
            <a:avLst/>
            <a:gdLst/>
            <a:ahLst/>
            <a:cxnLst/>
            <a:rect l="l" t="t" r="r" b="b"/>
            <a:pathLst>
              <a:path w="12192000" h="457200" extrusionOk="0">
                <a:moveTo>
                  <a:pt x="12192000" y="0"/>
                </a:moveTo>
                <a:lnTo>
                  <a:pt x="0" y="0"/>
                </a:lnTo>
                <a:lnTo>
                  <a:pt x="0" y="457200"/>
                </a:lnTo>
                <a:lnTo>
                  <a:pt x="12192000" y="457200"/>
                </a:lnTo>
                <a:lnTo>
                  <a:pt x="12192000" y="0"/>
                </a:lnTo>
                <a:close/>
              </a:path>
            </a:pathLst>
          </a:custGeom>
          <a:solidFill>
            <a:srgbClr val="25252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p>
        </p:txBody>
      </p:sp>
      <p:pic>
        <p:nvPicPr>
          <p:cNvPr id="79" name="Google Shape;79;p17"/>
          <p:cNvPicPr preferRelativeResize="0"/>
          <p:nvPr/>
        </p:nvPicPr>
        <p:blipFill rotWithShape="1">
          <a:blip r:embed="rId2">
            <a:alphaModFix/>
          </a:blip>
          <a:srcRect/>
          <a:stretch/>
        </p:blipFill>
        <p:spPr>
          <a:xfrm>
            <a:off x="0" y="4800599"/>
            <a:ext cx="1107281" cy="335756"/>
          </a:xfrm>
          <a:prstGeom prst="rect">
            <a:avLst/>
          </a:prstGeom>
          <a:noFill/>
          <a:ln>
            <a:noFill/>
          </a:ln>
        </p:spPr>
      </p:pic>
      <p:sp>
        <p:nvSpPr>
          <p:cNvPr id="80" name="Google Shape;80;p17"/>
          <p:cNvSpPr/>
          <p:nvPr/>
        </p:nvSpPr>
        <p:spPr>
          <a:xfrm>
            <a:off x="1107281" y="4800599"/>
            <a:ext cx="8036719" cy="342900"/>
          </a:xfrm>
          <a:custGeom>
            <a:avLst/>
            <a:gdLst/>
            <a:ahLst/>
            <a:cxnLst/>
            <a:rect l="l" t="t" r="r" b="b"/>
            <a:pathLst>
              <a:path w="10715625" h="457200" extrusionOk="0">
                <a:moveTo>
                  <a:pt x="10715625" y="0"/>
                </a:moveTo>
                <a:lnTo>
                  <a:pt x="0" y="0"/>
                </a:lnTo>
                <a:lnTo>
                  <a:pt x="0" y="457200"/>
                </a:lnTo>
                <a:lnTo>
                  <a:pt x="10715625" y="457200"/>
                </a:lnTo>
                <a:lnTo>
                  <a:pt x="10715625" y="0"/>
                </a:lnTo>
                <a:close/>
              </a:path>
            </a:pathLst>
          </a:custGeom>
          <a:solidFill>
            <a:srgbClr val="002E6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p>
        </p:txBody>
      </p:sp>
      <p:sp>
        <p:nvSpPr>
          <p:cNvPr id="81" name="Google Shape;81;p17"/>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2" name="Google Shape;82;p1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3" name="Google Shape;83;p17"/>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3405950" y="190785"/>
            <a:ext cx="2332200" cy="388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sz="2400" b="1" i="0">
                <a:solidFill>
                  <a:srgbClr val="002E64"/>
                </a:solidFill>
                <a:latin typeface="Arial"/>
                <a:ea typeface="Arial"/>
                <a:cs typeface="Arial"/>
                <a:sym typeface="Arial"/>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6" name="Google Shape;86;p18"/>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100"/>
              <a:buNone/>
              <a:defRPr/>
            </a:lvl1pPr>
            <a:lvl2pPr marL="914400" lvl="1" indent="-228600" algn="l" rtl="0">
              <a:spcBef>
                <a:spcPts val="0"/>
              </a:spcBef>
              <a:spcAft>
                <a:spcPts val="0"/>
              </a:spcAft>
              <a:buSzPts val="1100"/>
              <a:buNone/>
              <a:defRPr/>
            </a:lvl2pPr>
            <a:lvl3pPr marL="1371600" lvl="2" indent="-228600" algn="l" rtl="0">
              <a:spcBef>
                <a:spcPts val="0"/>
              </a:spcBef>
              <a:spcAft>
                <a:spcPts val="0"/>
              </a:spcAft>
              <a:buSzPts val="1100"/>
              <a:buNone/>
              <a:defRPr/>
            </a:lvl3pPr>
            <a:lvl4pPr marL="1828800" lvl="3" indent="-228600" algn="l" rtl="0">
              <a:spcBef>
                <a:spcPts val="0"/>
              </a:spcBef>
              <a:spcAft>
                <a:spcPts val="0"/>
              </a:spcAft>
              <a:buSzPts val="1100"/>
              <a:buNone/>
              <a:defRPr/>
            </a:lvl4pPr>
            <a:lvl5pPr marL="2286000" lvl="4" indent="-228600" algn="l" rtl="0">
              <a:spcBef>
                <a:spcPts val="0"/>
              </a:spcBef>
              <a:spcAft>
                <a:spcPts val="0"/>
              </a:spcAft>
              <a:buSzPts val="1100"/>
              <a:buNone/>
              <a:defRPr/>
            </a:lvl5pPr>
            <a:lvl6pPr marL="2743200" lvl="5" indent="-228600" algn="l" rtl="0">
              <a:spcBef>
                <a:spcPts val="0"/>
              </a:spcBef>
              <a:spcAft>
                <a:spcPts val="0"/>
              </a:spcAft>
              <a:buSzPts val="1100"/>
              <a:buNone/>
              <a:defRPr/>
            </a:lvl6pPr>
            <a:lvl7pPr marL="3200400" lvl="6" indent="-228600" algn="l" rtl="0">
              <a:spcBef>
                <a:spcPts val="0"/>
              </a:spcBef>
              <a:spcAft>
                <a:spcPts val="0"/>
              </a:spcAft>
              <a:buSzPts val="1100"/>
              <a:buNone/>
              <a:defRPr/>
            </a:lvl7pPr>
            <a:lvl8pPr marL="3657600" lvl="7" indent="-228600" algn="l" rtl="0">
              <a:spcBef>
                <a:spcPts val="0"/>
              </a:spcBef>
              <a:spcAft>
                <a:spcPts val="0"/>
              </a:spcAft>
              <a:buSzPts val="1100"/>
              <a:buNone/>
              <a:defRPr/>
            </a:lvl8pPr>
            <a:lvl9pPr marL="4114800" lvl="8" indent="-228600" algn="l" rtl="0">
              <a:spcBef>
                <a:spcPts val="0"/>
              </a:spcBef>
              <a:spcAft>
                <a:spcPts val="0"/>
              </a:spcAft>
              <a:buSzPts val="1100"/>
              <a:buNone/>
              <a:defRPr/>
            </a:lvl9pPr>
          </a:lstStyle>
          <a:p>
            <a:endParaRPr/>
          </a:p>
        </p:txBody>
      </p:sp>
      <p:sp>
        <p:nvSpPr>
          <p:cNvPr id="87" name="Google Shape;87;p18"/>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100"/>
              <a:buNone/>
              <a:defRPr/>
            </a:lvl1pPr>
            <a:lvl2pPr marL="914400" lvl="1" indent="-228600" algn="l" rtl="0">
              <a:spcBef>
                <a:spcPts val="0"/>
              </a:spcBef>
              <a:spcAft>
                <a:spcPts val="0"/>
              </a:spcAft>
              <a:buSzPts val="1100"/>
              <a:buNone/>
              <a:defRPr/>
            </a:lvl2pPr>
            <a:lvl3pPr marL="1371600" lvl="2" indent="-228600" algn="l" rtl="0">
              <a:spcBef>
                <a:spcPts val="0"/>
              </a:spcBef>
              <a:spcAft>
                <a:spcPts val="0"/>
              </a:spcAft>
              <a:buSzPts val="1100"/>
              <a:buNone/>
              <a:defRPr/>
            </a:lvl3pPr>
            <a:lvl4pPr marL="1828800" lvl="3" indent="-228600" algn="l" rtl="0">
              <a:spcBef>
                <a:spcPts val="0"/>
              </a:spcBef>
              <a:spcAft>
                <a:spcPts val="0"/>
              </a:spcAft>
              <a:buSzPts val="1100"/>
              <a:buNone/>
              <a:defRPr/>
            </a:lvl4pPr>
            <a:lvl5pPr marL="2286000" lvl="4" indent="-228600" algn="l" rtl="0">
              <a:spcBef>
                <a:spcPts val="0"/>
              </a:spcBef>
              <a:spcAft>
                <a:spcPts val="0"/>
              </a:spcAft>
              <a:buSzPts val="1100"/>
              <a:buNone/>
              <a:defRPr/>
            </a:lvl5pPr>
            <a:lvl6pPr marL="2743200" lvl="5" indent="-228600" algn="l" rtl="0">
              <a:spcBef>
                <a:spcPts val="0"/>
              </a:spcBef>
              <a:spcAft>
                <a:spcPts val="0"/>
              </a:spcAft>
              <a:buSzPts val="1100"/>
              <a:buNone/>
              <a:defRPr/>
            </a:lvl6pPr>
            <a:lvl7pPr marL="3200400" lvl="6" indent="-228600" algn="l" rtl="0">
              <a:spcBef>
                <a:spcPts val="0"/>
              </a:spcBef>
              <a:spcAft>
                <a:spcPts val="0"/>
              </a:spcAft>
              <a:buSzPts val="1100"/>
              <a:buNone/>
              <a:defRPr/>
            </a:lvl7pPr>
            <a:lvl8pPr marL="3657600" lvl="7" indent="-228600" algn="l" rtl="0">
              <a:spcBef>
                <a:spcPts val="0"/>
              </a:spcBef>
              <a:spcAft>
                <a:spcPts val="0"/>
              </a:spcAft>
              <a:buSzPts val="1100"/>
              <a:buNone/>
              <a:defRPr/>
            </a:lvl8pPr>
            <a:lvl9pPr marL="4114800" lvl="8" indent="-228600" algn="l" rtl="0">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9" name="Google Shape;89;p1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100"/>
              <a:buNone/>
              <a:defRPr>
                <a:solidFill>
                  <a:srgbClr val="888888"/>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0" name="Google Shape;90;p18"/>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image" Target="../media/image1.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p:nvPr/>
        </p:nvSpPr>
        <p:spPr>
          <a:xfrm>
            <a:off x="0" y="4800599"/>
            <a:ext cx="9144000" cy="342900"/>
          </a:xfrm>
          <a:custGeom>
            <a:avLst/>
            <a:gdLst/>
            <a:ahLst/>
            <a:cxnLst/>
            <a:rect l="l" t="t" r="r" b="b"/>
            <a:pathLst>
              <a:path w="12192000" h="457200" extrusionOk="0">
                <a:moveTo>
                  <a:pt x="12192000" y="0"/>
                </a:moveTo>
                <a:lnTo>
                  <a:pt x="0" y="0"/>
                </a:lnTo>
                <a:lnTo>
                  <a:pt x="0" y="457200"/>
                </a:lnTo>
                <a:lnTo>
                  <a:pt x="12192000" y="457200"/>
                </a:lnTo>
                <a:lnTo>
                  <a:pt x="12192000" y="0"/>
                </a:lnTo>
                <a:close/>
              </a:path>
            </a:pathLst>
          </a:custGeom>
          <a:solidFill>
            <a:srgbClr val="25252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p>
        </p:txBody>
      </p:sp>
      <p:pic>
        <p:nvPicPr>
          <p:cNvPr id="52" name="Google Shape;52;p13"/>
          <p:cNvPicPr preferRelativeResize="0"/>
          <p:nvPr/>
        </p:nvPicPr>
        <p:blipFill rotWithShape="1">
          <a:blip r:embed="rId7">
            <a:alphaModFix/>
          </a:blip>
          <a:srcRect/>
          <a:stretch/>
        </p:blipFill>
        <p:spPr>
          <a:xfrm>
            <a:off x="0" y="4800599"/>
            <a:ext cx="1107281" cy="335756"/>
          </a:xfrm>
          <a:prstGeom prst="rect">
            <a:avLst/>
          </a:prstGeom>
          <a:noFill/>
          <a:ln>
            <a:noFill/>
          </a:ln>
        </p:spPr>
      </p:pic>
      <p:sp>
        <p:nvSpPr>
          <p:cNvPr id="53" name="Google Shape;53;p13"/>
          <p:cNvSpPr/>
          <p:nvPr/>
        </p:nvSpPr>
        <p:spPr>
          <a:xfrm>
            <a:off x="1107281" y="4800599"/>
            <a:ext cx="8036719" cy="342900"/>
          </a:xfrm>
          <a:custGeom>
            <a:avLst/>
            <a:gdLst/>
            <a:ahLst/>
            <a:cxnLst/>
            <a:rect l="l" t="t" r="r" b="b"/>
            <a:pathLst>
              <a:path w="10715625" h="457200" extrusionOk="0">
                <a:moveTo>
                  <a:pt x="10715625" y="0"/>
                </a:moveTo>
                <a:lnTo>
                  <a:pt x="0" y="0"/>
                </a:lnTo>
                <a:lnTo>
                  <a:pt x="0" y="457200"/>
                </a:lnTo>
                <a:lnTo>
                  <a:pt x="10715625" y="457200"/>
                </a:lnTo>
                <a:lnTo>
                  <a:pt x="10715625" y="0"/>
                </a:lnTo>
                <a:close/>
              </a:path>
            </a:pathLst>
          </a:custGeom>
          <a:solidFill>
            <a:srgbClr val="002E6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p>
        </p:txBody>
      </p:sp>
      <p:pic>
        <p:nvPicPr>
          <p:cNvPr id="54" name="Google Shape;54;p13"/>
          <p:cNvPicPr preferRelativeResize="0"/>
          <p:nvPr/>
        </p:nvPicPr>
        <p:blipFill rotWithShape="1">
          <a:blip r:embed="rId8">
            <a:alphaModFix/>
          </a:blip>
          <a:srcRect/>
          <a:stretch/>
        </p:blipFill>
        <p:spPr>
          <a:xfrm>
            <a:off x="0" y="0"/>
            <a:ext cx="9144000" cy="671513"/>
          </a:xfrm>
          <a:prstGeom prst="rect">
            <a:avLst/>
          </a:prstGeom>
          <a:noFill/>
          <a:ln>
            <a:noFill/>
          </a:ln>
        </p:spPr>
      </p:pic>
      <p:sp>
        <p:nvSpPr>
          <p:cNvPr id="55" name="Google Shape;55;p13"/>
          <p:cNvSpPr txBox="1">
            <a:spLocks noGrp="1"/>
          </p:cNvSpPr>
          <p:nvPr>
            <p:ph type="title"/>
          </p:nvPr>
        </p:nvSpPr>
        <p:spPr>
          <a:xfrm>
            <a:off x="3405950" y="190785"/>
            <a:ext cx="2332200" cy="3885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100"/>
              <a:buNone/>
              <a:defRPr sz="2400" b="1" i="0" u="none" strike="noStrike" cap="none">
                <a:solidFill>
                  <a:srgbClr val="002E64"/>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6" name="Google Shape;56;p13"/>
          <p:cNvSpPr txBox="1">
            <a:spLocks noGrp="1"/>
          </p:cNvSpPr>
          <p:nvPr>
            <p:ph type="body" idx="1"/>
          </p:nvPr>
        </p:nvSpPr>
        <p:spPr>
          <a:xfrm>
            <a:off x="249317" y="2072116"/>
            <a:ext cx="8645400" cy="23673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100"/>
              <a:buNone/>
              <a:defRPr sz="3000" b="1" i="0" u="none" strike="noStrike" cap="none">
                <a:solidFill>
                  <a:srgbClr val="002E64"/>
                </a:solidFill>
                <a:latin typeface="Arial"/>
                <a:ea typeface="Arial"/>
                <a:cs typeface="Arial"/>
                <a:sym typeface="Arial"/>
              </a:defRPr>
            </a:lvl1pPr>
            <a:lvl2pPr marL="914400" marR="0" lvl="1" indent="-228600" algn="l" rtl="0">
              <a:spcBef>
                <a:spcPts val="0"/>
              </a:spcBef>
              <a:spcAft>
                <a:spcPts val="0"/>
              </a:spcAft>
              <a:buSzPts val="1100"/>
              <a:buNone/>
              <a:defRPr sz="1400" b="0" i="0" u="none" strike="noStrike" cap="none">
                <a:latin typeface="Calibri"/>
                <a:ea typeface="Calibri"/>
                <a:cs typeface="Calibri"/>
                <a:sym typeface="Calibri"/>
              </a:defRPr>
            </a:lvl2pPr>
            <a:lvl3pPr marL="1371600" marR="0" lvl="2" indent="-228600" algn="l" rtl="0">
              <a:spcBef>
                <a:spcPts val="0"/>
              </a:spcBef>
              <a:spcAft>
                <a:spcPts val="0"/>
              </a:spcAft>
              <a:buSzPts val="1100"/>
              <a:buNone/>
              <a:defRPr sz="1400" b="0" i="0" u="none" strike="noStrike" cap="none">
                <a:latin typeface="Calibri"/>
                <a:ea typeface="Calibri"/>
                <a:cs typeface="Calibri"/>
                <a:sym typeface="Calibri"/>
              </a:defRPr>
            </a:lvl3pPr>
            <a:lvl4pPr marL="1828800" marR="0" lvl="3" indent="-228600" algn="l" rtl="0">
              <a:spcBef>
                <a:spcPts val="0"/>
              </a:spcBef>
              <a:spcAft>
                <a:spcPts val="0"/>
              </a:spcAft>
              <a:buSzPts val="1100"/>
              <a:buNone/>
              <a:defRPr sz="1400" b="0" i="0" u="none" strike="noStrike" cap="none">
                <a:latin typeface="Calibri"/>
                <a:ea typeface="Calibri"/>
                <a:cs typeface="Calibri"/>
                <a:sym typeface="Calibri"/>
              </a:defRPr>
            </a:lvl4pPr>
            <a:lvl5pPr marL="2286000" marR="0" lvl="4" indent="-228600" algn="l" rtl="0">
              <a:spcBef>
                <a:spcPts val="0"/>
              </a:spcBef>
              <a:spcAft>
                <a:spcPts val="0"/>
              </a:spcAft>
              <a:buSzPts val="1100"/>
              <a:buNone/>
              <a:defRPr sz="1400" b="0" i="0" u="none" strike="noStrike" cap="none">
                <a:latin typeface="Calibri"/>
                <a:ea typeface="Calibri"/>
                <a:cs typeface="Calibri"/>
                <a:sym typeface="Calibri"/>
              </a:defRPr>
            </a:lvl5pPr>
            <a:lvl6pPr marL="2743200" marR="0" lvl="5" indent="-228600" algn="l" rtl="0">
              <a:spcBef>
                <a:spcPts val="0"/>
              </a:spcBef>
              <a:spcAft>
                <a:spcPts val="0"/>
              </a:spcAft>
              <a:buSzPts val="1100"/>
              <a:buNone/>
              <a:defRPr sz="1400" b="0" i="0" u="none" strike="noStrike" cap="none">
                <a:latin typeface="Calibri"/>
                <a:ea typeface="Calibri"/>
                <a:cs typeface="Calibri"/>
                <a:sym typeface="Calibri"/>
              </a:defRPr>
            </a:lvl6pPr>
            <a:lvl7pPr marL="3200400" marR="0" lvl="6" indent="-228600" algn="l" rtl="0">
              <a:spcBef>
                <a:spcPts val="0"/>
              </a:spcBef>
              <a:spcAft>
                <a:spcPts val="0"/>
              </a:spcAft>
              <a:buSzPts val="1100"/>
              <a:buNone/>
              <a:defRPr sz="1400" b="0" i="0" u="none" strike="noStrike" cap="none">
                <a:latin typeface="Calibri"/>
                <a:ea typeface="Calibri"/>
                <a:cs typeface="Calibri"/>
                <a:sym typeface="Calibri"/>
              </a:defRPr>
            </a:lvl7pPr>
            <a:lvl8pPr marL="3657600" marR="0" lvl="7" indent="-228600" algn="l" rtl="0">
              <a:spcBef>
                <a:spcPts val="0"/>
              </a:spcBef>
              <a:spcAft>
                <a:spcPts val="0"/>
              </a:spcAft>
              <a:buSzPts val="1100"/>
              <a:buNone/>
              <a:defRPr sz="1400" b="0" i="0" u="none" strike="noStrike" cap="none">
                <a:latin typeface="Calibri"/>
                <a:ea typeface="Calibri"/>
                <a:cs typeface="Calibri"/>
                <a:sym typeface="Calibri"/>
              </a:defRPr>
            </a:lvl8pPr>
            <a:lvl9pPr marL="4114800" marR="0" lvl="8" indent="-228600" algn="l" rtl="0">
              <a:spcBef>
                <a:spcPts val="0"/>
              </a:spcBef>
              <a:spcAft>
                <a:spcPts val="0"/>
              </a:spcAft>
              <a:buSzPts val="1100"/>
              <a:buNone/>
              <a:defRPr sz="1400" b="0" i="0" u="none" strike="noStrike" cap="none">
                <a:latin typeface="Calibri"/>
                <a:ea typeface="Calibri"/>
                <a:cs typeface="Calibri"/>
                <a:sym typeface="Calibri"/>
              </a:defRPr>
            </a:lvl9pPr>
          </a:lstStyle>
          <a:p>
            <a:endParaRPr/>
          </a:p>
        </p:txBody>
      </p:sp>
      <p:sp>
        <p:nvSpPr>
          <p:cNvPr id="57" name="Google Shape;57;p1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100"/>
              <a:buNone/>
              <a:defRPr sz="1400">
                <a:solidFill>
                  <a:srgbClr val="888888"/>
                </a:solidFill>
              </a:defRPr>
            </a:lvl1pPr>
            <a:lvl2pPr marR="0" lvl="1" algn="l" rtl="0">
              <a:spcBef>
                <a:spcPts val="0"/>
              </a:spcBef>
              <a:spcAft>
                <a:spcPts val="0"/>
              </a:spcAft>
              <a:buSzPts val="1100"/>
              <a:buNone/>
              <a:defRPr sz="1400" b="0" i="0" u="none" strike="noStrike" cap="none"/>
            </a:lvl2pPr>
            <a:lvl3pPr marR="0" lvl="2" algn="l" rtl="0">
              <a:spcBef>
                <a:spcPts val="0"/>
              </a:spcBef>
              <a:spcAft>
                <a:spcPts val="0"/>
              </a:spcAft>
              <a:buSzPts val="1100"/>
              <a:buNone/>
              <a:defRPr sz="1400" b="0" i="0" u="none" strike="noStrike" cap="none"/>
            </a:lvl3pPr>
            <a:lvl4pPr marR="0" lvl="3" algn="l" rtl="0">
              <a:spcBef>
                <a:spcPts val="0"/>
              </a:spcBef>
              <a:spcAft>
                <a:spcPts val="0"/>
              </a:spcAft>
              <a:buSzPts val="1100"/>
              <a:buNone/>
              <a:defRPr sz="1400" b="0" i="0" u="none" strike="noStrike" cap="none"/>
            </a:lvl4pPr>
            <a:lvl5pPr marR="0" lvl="4" algn="l" rtl="0">
              <a:spcBef>
                <a:spcPts val="0"/>
              </a:spcBef>
              <a:spcAft>
                <a:spcPts val="0"/>
              </a:spcAft>
              <a:buSzPts val="1100"/>
              <a:buNone/>
              <a:defRPr sz="1400" b="0" i="0" u="none" strike="noStrike" cap="none"/>
            </a:lvl5pPr>
            <a:lvl6pPr marR="0" lvl="5" algn="l" rtl="0">
              <a:spcBef>
                <a:spcPts val="0"/>
              </a:spcBef>
              <a:spcAft>
                <a:spcPts val="0"/>
              </a:spcAft>
              <a:buSzPts val="1100"/>
              <a:buNone/>
              <a:defRPr sz="1400" b="0" i="0" u="none" strike="noStrike" cap="none"/>
            </a:lvl6pPr>
            <a:lvl7pPr marR="0" lvl="6" algn="l" rtl="0">
              <a:spcBef>
                <a:spcPts val="0"/>
              </a:spcBef>
              <a:spcAft>
                <a:spcPts val="0"/>
              </a:spcAft>
              <a:buSzPts val="1100"/>
              <a:buNone/>
              <a:defRPr sz="1400" b="0" i="0" u="none" strike="noStrike" cap="none"/>
            </a:lvl7pPr>
            <a:lvl8pPr marR="0" lvl="7" algn="l" rtl="0">
              <a:spcBef>
                <a:spcPts val="0"/>
              </a:spcBef>
              <a:spcAft>
                <a:spcPts val="0"/>
              </a:spcAft>
              <a:buSzPts val="1100"/>
              <a:buNone/>
              <a:defRPr sz="1400" b="0" i="0" u="none" strike="noStrike" cap="none"/>
            </a:lvl8pPr>
            <a:lvl9pPr marR="0" lvl="8" algn="l" rtl="0">
              <a:spcBef>
                <a:spcPts val="0"/>
              </a:spcBef>
              <a:spcAft>
                <a:spcPts val="0"/>
              </a:spcAft>
              <a:buSzPts val="1100"/>
              <a:buNone/>
              <a:defRPr sz="1400" b="0" i="0" u="none" strike="noStrike" cap="none"/>
            </a:lvl9pPr>
          </a:lstStyle>
          <a:p>
            <a:endParaRPr/>
          </a:p>
        </p:txBody>
      </p:sp>
      <p:sp>
        <p:nvSpPr>
          <p:cNvPr id="58" name="Google Shape;58;p1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100"/>
              <a:buNone/>
              <a:defRPr sz="1400">
                <a:solidFill>
                  <a:srgbClr val="888888"/>
                </a:solidFill>
              </a:defRPr>
            </a:lvl1pPr>
            <a:lvl2pPr marR="0" lvl="1" algn="l" rtl="0">
              <a:spcBef>
                <a:spcPts val="0"/>
              </a:spcBef>
              <a:spcAft>
                <a:spcPts val="0"/>
              </a:spcAft>
              <a:buSzPts val="1100"/>
              <a:buNone/>
              <a:defRPr sz="1400" b="0" i="0" u="none" strike="noStrike" cap="none"/>
            </a:lvl2pPr>
            <a:lvl3pPr marR="0" lvl="2" algn="l" rtl="0">
              <a:spcBef>
                <a:spcPts val="0"/>
              </a:spcBef>
              <a:spcAft>
                <a:spcPts val="0"/>
              </a:spcAft>
              <a:buSzPts val="1100"/>
              <a:buNone/>
              <a:defRPr sz="1400" b="0" i="0" u="none" strike="noStrike" cap="none"/>
            </a:lvl3pPr>
            <a:lvl4pPr marR="0" lvl="3" algn="l" rtl="0">
              <a:spcBef>
                <a:spcPts val="0"/>
              </a:spcBef>
              <a:spcAft>
                <a:spcPts val="0"/>
              </a:spcAft>
              <a:buSzPts val="1100"/>
              <a:buNone/>
              <a:defRPr sz="1400" b="0" i="0" u="none" strike="noStrike" cap="none"/>
            </a:lvl4pPr>
            <a:lvl5pPr marR="0" lvl="4" algn="l" rtl="0">
              <a:spcBef>
                <a:spcPts val="0"/>
              </a:spcBef>
              <a:spcAft>
                <a:spcPts val="0"/>
              </a:spcAft>
              <a:buSzPts val="1100"/>
              <a:buNone/>
              <a:defRPr sz="1400" b="0" i="0" u="none" strike="noStrike" cap="none"/>
            </a:lvl5pPr>
            <a:lvl6pPr marR="0" lvl="5" algn="l" rtl="0">
              <a:spcBef>
                <a:spcPts val="0"/>
              </a:spcBef>
              <a:spcAft>
                <a:spcPts val="0"/>
              </a:spcAft>
              <a:buSzPts val="1100"/>
              <a:buNone/>
              <a:defRPr sz="1400" b="0" i="0" u="none" strike="noStrike" cap="none"/>
            </a:lvl6pPr>
            <a:lvl7pPr marR="0" lvl="6" algn="l" rtl="0">
              <a:spcBef>
                <a:spcPts val="0"/>
              </a:spcBef>
              <a:spcAft>
                <a:spcPts val="0"/>
              </a:spcAft>
              <a:buSzPts val="1100"/>
              <a:buNone/>
              <a:defRPr sz="1400" b="0" i="0" u="none" strike="noStrike" cap="none"/>
            </a:lvl7pPr>
            <a:lvl8pPr marR="0" lvl="7" algn="l" rtl="0">
              <a:spcBef>
                <a:spcPts val="0"/>
              </a:spcBef>
              <a:spcAft>
                <a:spcPts val="0"/>
              </a:spcAft>
              <a:buSzPts val="1100"/>
              <a:buNone/>
              <a:defRPr sz="1400" b="0" i="0" u="none" strike="noStrike" cap="none"/>
            </a:lvl8pPr>
            <a:lvl9pPr marR="0" lvl="8" algn="l" rtl="0">
              <a:spcBef>
                <a:spcPts val="0"/>
              </a:spcBef>
              <a:spcAft>
                <a:spcPts val="0"/>
              </a:spcAft>
              <a:buSzPts val="1100"/>
              <a:buNone/>
              <a:defRPr sz="1400" b="0" i="0" u="none" strike="noStrike" cap="none"/>
            </a:lvl9pPr>
          </a:lstStyle>
          <a:p>
            <a:endParaRPr/>
          </a:p>
        </p:txBody>
      </p:sp>
      <p:sp>
        <p:nvSpPr>
          <p:cNvPr id="59" name="Google Shape;59;p13"/>
          <p:cNvSpPr txBox="1">
            <a:spLocks noGrp="1"/>
          </p:cNvSpPr>
          <p:nvPr>
            <p:ph type="sldNum" idx="12"/>
          </p:nvPr>
        </p:nvSpPr>
        <p:spPr>
          <a:xfrm>
            <a:off x="8406003" y="4868629"/>
            <a:ext cx="565800" cy="1968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1pPr>
            <a:lvl2pPr marL="12700" marR="0" lvl="1"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2pPr>
            <a:lvl3pPr marL="12700" marR="0" lvl="2"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3pPr>
            <a:lvl4pPr marL="12700" marR="0" lvl="3"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4pPr>
            <a:lvl5pPr marL="12700" marR="0" lvl="4"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5pPr>
            <a:lvl6pPr marL="12700" marR="0" lvl="5"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6pPr>
            <a:lvl7pPr marL="12700" marR="0" lvl="6"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7pPr>
            <a:lvl8pPr marL="12700" marR="0" lvl="7"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8pPr>
            <a:lvl9pPr marL="12700" marR="0" lvl="8" indent="0" algn="l" rtl="0">
              <a:lnSpc>
                <a:spcPct val="100000"/>
              </a:lnSpc>
              <a:spcBef>
                <a:spcPts val="0"/>
              </a:spcBef>
              <a:buNone/>
              <a:defRPr sz="1700" b="0" i="0" u="none" baseline="30000">
                <a:solidFill>
                  <a:schemeClr val="lt1"/>
                </a:solidFill>
                <a:latin typeface="Libre Franklin Medium"/>
                <a:ea typeface="Libre Franklin Medium"/>
                <a:cs typeface="Libre Franklin Medium"/>
                <a:sym typeface="Libre Franklin Medium"/>
              </a:defRPr>
            </a:lvl9pPr>
          </a:lstStyle>
          <a:p>
            <a:pPr marL="12700" lvl="0" indent="0" algn="l" rtl="0">
              <a:spcBef>
                <a:spcPts val="0"/>
              </a:spcBef>
              <a:spcAft>
                <a:spcPts val="0"/>
              </a:spcAft>
              <a:buNone/>
            </a:pPr>
            <a:r>
              <a:rPr lang="en"/>
              <a:t>Page </a:t>
            </a:r>
            <a:fld id="{00000000-1234-1234-1234-123412341234}" type="slidenum">
              <a:rPr lang="en" sz="1200"/>
              <a:t>‹#›</a:t>
            </a:fld>
            <a:endParaRPr sz="120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slideLayout" Target="../slideLayouts/slideLayout13.xml"/><Relationship Id="rId7" Type="http://schemas.openxmlformats.org/officeDocument/2006/relationships/image" Target="../media/image15.png"/><Relationship Id="rId12" Type="http://schemas.openxmlformats.org/officeDocument/2006/relationships/image" Target="../media/image25.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26.png"/><Relationship Id="rId10" Type="http://schemas.openxmlformats.org/officeDocument/2006/relationships/image" Target="../media/image18.png"/><Relationship Id="rId4" Type="http://schemas.openxmlformats.org/officeDocument/2006/relationships/notesSlide" Target="../notesSlides/notesSlide8.xml"/><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audio" Target="../media/media3.m4a"/><Relationship Id="rId7" Type="http://schemas.openxmlformats.org/officeDocument/2006/relationships/image" Target="../media/image28.png"/><Relationship Id="rId12" Type="http://schemas.openxmlformats.org/officeDocument/2006/relationships/image" Target="../media/image33.png"/><Relationship Id="rId2" Type="http://schemas.microsoft.com/office/2007/relationships/media" Target="../media/media3.m4a"/><Relationship Id="rId1" Type="http://schemas.openxmlformats.org/officeDocument/2006/relationships/tags" Target="../tags/tag1.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notesSlide" Target="../notesSlides/notesSlide9.xml"/><Relationship Id="rId15" Type="http://schemas.openxmlformats.org/officeDocument/2006/relationships/image" Target="../media/image25.png"/><Relationship Id="rId10" Type="http://schemas.openxmlformats.org/officeDocument/2006/relationships/image" Target="../media/image31.png"/><Relationship Id="rId4" Type="http://schemas.openxmlformats.org/officeDocument/2006/relationships/slideLayout" Target="../slideLayouts/slideLayout13.xml"/><Relationship Id="rId9" Type="http://schemas.openxmlformats.org/officeDocument/2006/relationships/image" Target="../media/image30.png"/><Relationship Id="rId14" Type="http://schemas.openxmlformats.org/officeDocument/2006/relationships/image" Target="../media/image35.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4"/>
        <p:cNvGrpSpPr/>
        <p:nvPr/>
      </p:nvGrpSpPr>
      <p:grpSpPr>
        <a:xfrm>
          <a:off x="0" y="0"/>
          <a:ext cx="0" cy="0"/>
          <a:chOff x="0" y="0"/>
          <a:chExt cx="0" cy="0"/>
        </a:xfrm>
      </p:grpSpPr>
      <p:sp>
        <p:nvSpPr>
          <p:cNvPr id="95" name="Google Shape;95;p19"/>
          <p:cNvSpPr/>
          <p:nvPr/>
        </p:nvSpPr>
        <p:spPr>
          <a:xfrm>
            <a:off x="0" y="4807750"/>
            <a:ext cx="9135070" cy="335756"/>
          </a:xfrm>
          <a:custGeom>
            <a:avLst/>
            <a:gdLst/>
            <a:ahLst/>
            <a:cxnLst/>
            <a:rect l="l" t="t" r="r" b="b"/>
            <a:pathLst>
              <a:path w="10715625" h="447675" extrusionOk="0">
                <a:moveTo>
                  <a:pt x="10715625" y="0"/>
                </a:moveTo>
                <a:lnTo>
                  <a:pt x="0" y="0"/>
                </a:lnTo>
                <a:lnTo>
                  <a:pt x="0" y="447675"/>
                </a:lnTo>
                <a:lnTo>
                  <a:pt x="10715625" y="447675"/>
                </a:lnTo>
                <a:lnTo>
                  <a:pt x="10715625" y="0"/>
                </a:lnTo>
                <a:close/>
              </a:path>
            </a:pathLst>
          </a:custGeom>
          <a:solidFill>
            <a:srgbClr val="002E64"/>
          </a:solidFill>
          <a:ln w="9525" cap="flat" cmpd="sng">
            <a:solidFill>
              <a:schemeClr val="dk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400"/>
          </a:p>
        </p:txBody>
      </p:sp>
      <p:pic>
        <p:nvPicPr>
          <p:cNvPr id="96" name="Google Shape;96;p19"/>
          <p:cNvPicPr preferRelativeResize="0"/>
          <p:nvPr/>
        </p:nvPicPr>
        <p:blipFill rotWithShape="1">
          <a:blip r:embed="rId3">
            <a:alphaModFix/>
          </a:blip>
          <a:srcRect/>
          <a:stretch/>
        </p:blipFill>
        <p:spPr>
          <a:xfrm>
            <a:off x="0" y="0"/>
            <a:ext cx="9144000" cy="1671875"/>
          </a:xfrm>
          <a:prstGeom prst="rect">
            <a:avLst/>
          </a:prstGeom>
          <a:noFill/>
          <a:ln>
            <a:noFill/>
          </a:ln>
        </p:spPr>
      </p:pic>
      <p:grpSp>
        <p:nvGrpSpPr>
          <p:cNvPr id="97" name="Google Shape;97;p19"/>
          <p:cNvGrpSpPr/>
          <p:nvPr/>
        </p:nvGrpSpPr>
        <p:grpSpPr>
          <a:xfrm>
            <a:off x="0" y="3215886"/>
            <a:ext cx="9144000" cy="1927676"/>
            <a:chOff x="0" y="3752850"/>
            <a:chExt cx="12192000" cy="3105148"/>
          </a:xfrm>
        </p:grpSpPr>
        <p:pic>
          <p:nvPicPr>
            <p:cNvPr id="98" name="Google Shape;98;p19"/>
            <p:cNvPicPr preferRelativeResize="0"/>
            <p:nvPr/>
          </p:nvPicPr>
          <p:blipFill rotWithShape="1">
            <a:blip r:embed="rId4">
              <a:alphaModFix/>
            </a:blip>
            <a:srcRect t="8766" b="8766"/>
            <a:stretch/>
          </p:blipFill>
          <p:spPr>
            <a:xfrm>
              <a:off x="0" y="6410324"/>
              <a:ext cx="1476374" cy="447674"/>
            </a:xfrm>
            <a:prstGeom prst="rect">
              <a:avLst/>
            </a:prstGeom>
            <a:noFill/>
            <a:ln>
              <a:noFill/>
            </a:ln>
          </p:spPr>
        </p:pic>
        <p:pic>
          <p:nvPicPr>
            <p:cNvPr id="99" name="Google Shape;99;p19"/>
            <p:cNvPicPr preferRelativeResize="0"/>
            <p:nvPr/>
          </p:nvPicPr>
          <p:blipFill rotWithShape="1">
            <a:blip r:embed="rId5">
              <a:alphaModFix/>
            </a:blip>
            <a:srcRect/>
            <a:stretch/>
          </p:blipFill>
          <p:spPr>
            <a:xfrm>
              <a:off x="0" y="3752850"/>
              <a:ext cx="12192000" cy="2657475"/>
            </a:xfrm>
            <a:prstGeom prst="rect">
              <a:avLst/>
            </a:prstGeom>
            <a:noFill/>
            <a:ln>
              <a:noFill/>
            </a:ln>
          </p:spPr>
        </p:pic>
      </p:grpSp>
      <p:sp>
        <p:nvSpPr>
          <p:cNvPr id="100" name="Google Shape;100;p19"/>
          <p:cNvSpPr txBox="1">
            <a:spLocks noGrp="1"/>
          </p:cNvSpPr>
          <p:nvPr>
            <p:ph type="title"/>
          </p:nvPr>
        </p:nvSpPr>
        <p:spPr>
          <a:xfrm>
            <a:off x="0" y="1852550"/>
            <a:ext cx="9144000" cy="874500"/>
          </a:xfrm>
          <a:prstGeom prst="rect">
            <a:avLst/>
          </a:prstGeom>
          <a:noFill/>
          <a:ln>
            <a:noFill/>
          </a:ln>
        </p:spPr>
        <p:txBody>
          <a:bodyPr spcFirstLastPara="1" wrap="square" lIns="0" tIns="12375" rIns="0" bIns="0" anchor="t" anchorCtr="0">
            <a:spAutoFit/>
          </a:bodyPr>
          <a:lstStyle/>
          <a:p>
            <a:pPr marL="0" lvl="0" indent="0" algn="ctr" rtl="0">
              <a:spcBef>
                <a:spcPts val="0"/>
              </a:spcBef>
              <a:spcAft>
                <a:spcPts val="0"/>
              </a:spcAft>
              <a:buClr>
                <a:schemeClr val="dk1"/>
              </a:buClr>
              <a:buFont typeface="Arial"/>
              <a:buNone/>
            </a:pPr>
            <a:r>
              <a:rPr lang="en" sz="3000"/>
              <a:t>Trash Classification Model</a:t>
            </a:r>
            <a:endParaRPr sz="3000"/>
          </a:p>
          <a:p>
            <a:pPr marL="0" lvl="0" indent="0" algn="ctr" rtl="0">
              <a:spcBef>
                <a:spcPts val="0"/>
              </a:spcBef>
              <a:spcAft>
                <a:spcPts val="0"/>
              </a:spcAft>
              <a:buClr>
                <a:schemeClr val="dk1"/>
              </a:buClr>
              <a:buFont typeface="Arial"/>
              <a:buNone/>
            </a:pPr>
            <a:endParaRPr sz="1300" i="1"/>
          </a:p>
          <a:p>
            <a:pPr marL="0" lvl="0" indent="0" algn="ctr" rtl="0">
              <a:spcBef>
                <a:spcPts val="0"/>
              </a:spcBef>
              <a:spcAft>
                <a:spcPts val="0"/>
              </a:spcAft>
              <a:buClr>
                <a:schemeClr val="dk1"/>
              </a:buClr>
              <a:buFont typeface="Arial"/>
              <a:buNone/>
            </a:pPr>
            <a:r>
              <a:rPr lang="en" sz="1300" i="1"/>
              <a:t>A neural network for classifying images of trash</a:t>
            </a:r>
            <a:endParaRPr sz="3000"/>
          </a:p>
        </p:txBody>
      </p:sp>
      <p:pic>
        <p:nvPicPr>
          <p:cNvPr id="101" name="Google Shape;101;p19"/>
          <p:cNvPicPr preferRelativeResize="0"/>
          <p:nvPr/>
        </p:nvPicPr>
        <p:blipFill rotWithShape="1">
          <a:blip r:embed="rId6">
            <a:alphaModFix/>
          </a:blip>
          <a:srcRect/>
          <a:stretch/>
        </p:blipFill>
        <p:spPr>
          <a:xfrm>
            <a:off x="3314300" y="368013"/>
            <a:ext cx="2286000" cy="935831"/>
          </a:xfrm>
          <a:prstGeom prst="rect">
            <a:avLst/>
          </a:prstGeom>
          <a:noFill/>
          <a:ln>
            <a:noFill/>
          </a:ln>
        </p:spPr>
      </p:pic>
      <p:sp>
        <p:nvSpPr>
          <p:cNvPr id="102" name="Google Shape;102;p19"/>
          <p:cNvSpPr txBox="1">
            <a:spLocks noGrp="1"/>
          </p:cNvSpPr>
          <p:nvPr>
            <p:ph type="body" idx="1"/>
          </p:nvPr>
        </p:nvSpPr>
        <p:spPr>
          <a:xfrm>
            <a:off x="192400" y="3124873"/>
            <a:ext cx="8645400" cy="1721100"/>
          </a:xfrm>
          <a:prstGeom prst="rect">
            <a:avLst/>
          </a:prstGeom>
          <a:noFill/>
          <a:ln>
            <a:noFill/>
          </a:ln>
        </p:spPr>
        <p:txBody>
          <a:bodyPr spcFirstLastPara="1" wrap="square" lIns="0" tIns="12375" rIns="0" bIns="0" anchor="t" anchorCtr="0">
            <a:spAutoFit/>
          </a:bodyPr>
          <a:lstStyle/>
          <a:p>
            <a:pPr marL="0" lvl="0" indent="0" algn="r" rtl="0">
              <a:lnSpc>
                <a:spcPct val="100000"/>
              </a:lnSpc>
              <a:spcBef>
                <a:spcPts val="1900"/>
              </a:spcBef>
              <a:spcAft>
                <a:spcPts val="0"/>
              </a:spcAft>
              <a:buNone/>
            </a:pPr>
            <a:endParaRPr sz="1800" b="0"/>
          </a:p>
          <a:p>
            <a:pPr marL="0" lvl="0" indent="0" algn="ctr" rtl="0">
              <a:lnSpc>
                <a:spcPct val="100000"/>
              </a:lnSpc>
              <a:spcBef>
                <a:spcPts val="1900"/>
              </a:spcBef>
              <a:spcAft>
                <a:spcPts val="0"/>
              </a:spcAft>
              <a:buNone/>
            </a:pPr>
            <a:r>
              <a:rPr lang="en" sz="1800" b="0"/>
              <a:t>The Minh Nguyen, Jessika Noenchen, Jacob Trombley, Alice Zhang</a:t>
            </a:r>
            <a:endParaRPr sz="1800" b="0"/>
          </a:p>
          <a:p>
            <a:pPr marL="0" lvl="0" indent="0" algn="ctr" rtl="0">
              <a:lnSpc>
                <a:spcPct val="100000"/>
              </a:lnSpc>
              <a:spcBef>
                <a:spcPts val="1900"/>
              </a:spcBef>
              <a:spcAft>
                <a:spcPts val="0"/>
              </a:spcAft>
              <a:buNone/>
            </a:pPr>
            <a:r>
              <a:rPr lang="en" sz="1800" b="0"/>
              <a:t>MIE 1517F, Group 1</a:t>
            </a:r>
            <a:endParaRPr sz="1800" b="0"/>
          </a:p>
          <a:p>
            <a:pPr marL="0" lvl="0" indent="0" algn="ctr" rtl="0">
              <a:spcBef>
                <a:spcPts val="1600"/>
              </a:spcBef>
              <a:spcAft>
                <a:spcPts val="0"/>
              </a:spcAft>
              <a:buClr>
                <a:schemeClr val="dk1"/>
              </a:buClr>
              <a:buFont typeface="Arial"/>
              <a:buNone/>
            </a:pPr>
            <a:r>
              <a:rPr lang="en" sz="1200" b="0"/>
              <a:t>December 2025</a:t>
            </a:r>
            <a:endParaRPr sz="1200">
              <a:latin typeface="Arial"/>
              <a:ea typeface="Arial"/>
              <a:cs typeface="Arial"/>
              <a:sym typeface="Arial"/>
            </a:endParaRPr>
          </a:p>
        </p:txBody>
      </p:sp>
      <p:sp>
        <p:nvSpPr>
          <p:cNvPr id="103" name="Google Shape;103;p19"/>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1</a:t>
            </a:fld>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grpSp>
        <p:nvGrpSpPr>
          <p:cNvPr id="108" name="Google Shape;108;p20"/>
          <p:cNvGrpSpPr/>
          <p:nvPr/>
        </p:nvGrpSpPr>
        <p:grpSpPr>
          <a:xfrm>
            <a:off x="1360440" y="831903"/>
            <a:ext cx="6423119" cy="3766753"/>
            <a:chOff x="1241975" y="1122450"/>
            <a:chExt cx="5276529" cy="3094351"/>
          </a:xfrm>
        </p:grpSpPr>
        <p:sp>
          <p:nvSpPr>
            <p:cNvPr id="109" name="Google Shape;109;p20"/>
            <p:cNvSpPr/>
            <p:nvPr/>
          </p:nvSpPr>
          <p:spPr>
            <a:xfrm>
              <a:off x="1241975" y="1122450"/>
              <a:ext cx="1569650" cy="3094351"/>
            </a:xfrm>
            <a:prstGeom prst="rect">
              <a:avLst/>
            </a:prstGeom>
          </p:spPr>
          <p:txBody>
            <a:bodyPr>
              <a:prstTxWarp prst="textPlain">
                <a:avLst/>
              </a:prstTxWarp>
            </a:bodyPr>
            <a:lstStyle/>
            <a:p>
              <a:pPr lvl="0" algn="ctr"/>
              <a:r>
                <a:rPr b="0" i="0">
                  <a:ln w="11600" cap="flat" cmpd="sng">
                    <a:solidFill>
                      <a:srgbClr val="002E64"/>
                    </a:solidFill>
                    <a:prstDash val="solid"/>
                    <a:round/>
                    <a:headEnd type="none" w="sm" len="sm"/>
                    <a:tailEnd type="none" w="sm" len="sm"/>
                  </a:ln>
                  <a:solidFill>
                    <a:srgbClr val="002E65"/>
                  </a:solidFill>
                  <a:latin typeface="Impact"/>
                </a:rPr>
                <a:t>2</a:t>
              </a:r>
            </a:p>
          </p:txBody>
        </p:sp>
        <p:sp>
          <p:nvSpPr>
            <p:cNvPr id="110" name="Google Shape;110;p20"/>
            <p:cNvSpPr/>
            <p:nvPr/>
          </p:nvSpPr>
          <p:spPr>
            <a:xfrm>
              <a:off x="2947912" y="2704050"/>
              <a:ext cx="3570592" cy="1512751"/>
            </a:xfrm>
            <a:prstGeom prst="rect">
              <a:avLst/>
            </a:prstGeom>
          </p:spPr>
          <p:txBody>
            <a:bodyPr>
              <a:prstTxWarp prst="textPlain">
                <a:avLst/>
              </a:prstTxWarp>
            </a:bodyPr>
            <a:lstStyle/>
            <a:p>
              <a:pPr lvl="0" algn="ctr"/>
              <a:r>
                <a:rPr b="0" i="0">
                  <a:ln w="11600" cap="flat" cmpd="sng">
                    <a:solidFill>
                      <a:srgbClr val="002E64"/>
                    </a:solidFill>
                    <a:prstDash val="solid"/>
                    <a:round/>
                    <a:headEnd type="none" w="sm" len="sm"/>
                    <a:tailEnd type="none" w="sm" len="sm"/>
                  </a:ln>
                  <a:solidFill>
                    <a:srgbClr val="002E65"/>
                  </a:solidFill>
                  <a:latin typeface="Impact"/>
                </a:rPr>
                <a:t>TONNES</a:t>
              </a:r>
            </a:p>
          </p:txBody>
        </p:sp>
        <p:sp>
          <p:nvSpPr>
            <p:cNvPr id="111" name="Google Shape;111;p20"/>
            <p:cNvSpPr/>
            <p:nvPr/>
          </p:nvSpPr>
          <p:spPr>
            <a:xfrm>
              <a:off x="2939575" y="1122450"/>
              <a:ext cx="3570599" cy="1512751"/>
            </a:xfrm>
            <a:prstGeom prst="rect">
              <a:avLst/>
            </a:prstGeom>
          </p:spPr>
          <p:txBody>
            <a:bodyPr>
              <a:prstTxWarp prst="textPlain">
                <a:avLst/>
              </a:prstTxWarp>
            </a:bodyPr>
            <a:lstStyle/>
            <a:p>
              <a:pPr lvl="0" algn="ctr"/>
              <a:r>
                <a:rPr b="0" i="0">
                  <a:ln w="11600" cap="flat" cmpd="sng">
                    <a:solidFill>
                      <a:srgbClr val="002E64"/>
                    </a:solidFill>
                    <a:prstDash val="solid"/>
                    <a:round/>
                    <a:headEnd type="none" w="sm" len="sm"/>
                    <a:tailEnd type="none" w="sm" len="sm"/>
                  </a:ln>
                  <a:solidFill>
                    <a:srgbClr val="002E65"/>
                  </a:solidFill>
                  <a:latin typeface="Impact"/>
                </a:rPr>
                <a:t>BILLION</a:t>
              </a:r>
            </a:p>
          </p:txBody>
        </p:sp>
      </p:grpSp>
      <p:sp>
        <p:nvSpPr>
          <p:cNvPr id="112" name="Google Shape;112;p20"/>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Problem</a:t>
            </a:r>
            <a:endParaRPr/>
          </a:p>
        </p:txBody>
      </p:sp>
      <p:pic>
        <p:nvPicPr>
          <p:cNvPr id="113" name="Google Shape;113;p20"/>
          <p:cNvPicPr preferRelativeResize="0"/>
          <p:nvPr/>
        </p:nvPicPr>
        <p:blipFill>
          <a:blip r:embed="rId3">
            <a:alphaModFix/>
          </a:blip>
          <a:stretch>
            <a:fillRect/>
          </a:stretch>
        </p:blipFill>
        <p:spPr>
          <a:xfrm rot="227989">
            <a:off x="4207014" y="688925"/>
            <a:ext cx="1052374" cy="1052396"/>
          </a:xfrm>
          <a:prstGeom prst="rect">
            <a:avLst/>
          </a:prstGeom>
          <a:noFill/>
          <a:ln>
            <a:noFill/>
          </a:ln>
        </p:spPr>
      </p:pic>
      <p:pic>
        <p:nvPicPr>
          <p:cNvPr id="114" name="Google Shape;114;p20"/>
          <p:cNvPicPr preferRelativeResize="0"/>
          <p:nvPr/>
        </p:nvPicPr>
        <p:blipFill>
          <a:blip r:embed="rId3">
            <a:alphaModFix/>
          </a:blip>
          <a:stretch>
            <a:fillRect/>
          </a:stretch>
        </p:blipFill>
        <p:spPr>
          <a:xfrm rot="-538024">
            <a:off x="4981288" y="1952250"/>
            <a:ext cx="1052373" cy="1052395"/>
          </a:xfrm>
          <a:prstGeom prst="rect">
            <a:avLst/>
          </a:prstGeom>
          <a:noFill/>
          <a:ln>
            <a:noFill/>
          </a:ln>
        </p:spPr>
      </p:pic>
      <p:pic>
        <p:nvPicPr>
          <p:cNvPr id="116" name="Google Shape;116;p20"/>
          <p:cNvPicPr preferRelativeResize="0"/>
          <p:nvPr/>
        </p:nvPicPr>
        <p:blipFill>
          <a:blip r:embed="rId4">
            <a:alphaModFix/>
          </a:blip>
          <a:stretch>
            <a:fillRect/>
          </a:stretch>
        </p:blipFill>
        <p:spPr>
          <a:xfrm rot="-1246487">
            <a:off x="236219" y="2568255"/>
            <a:ext cx="2160161" cy="2156167"/>
          </a:xfrm>
          <a:prstGeom prst="rect">
            <a:avLst/>
          </a:prstGeom>
          <a:noFill/>
          <a:ln>
            <a:noFill/>
          </a:ln>
        </p:spPr>
      </p:pic>
      <p:pic>
        <p:nvPicPr>
          <p:cNvPr id="117" name="Google Shape;117;p20"/>
          <p:cNvPicPr preferRelativeResize="0"/>
          <p:nvPr/>
        </p:nvPicPr>
        <p:blipFill>
          <a:blip r:embed="rId3">
            <a:alphaModFix/>
          </a:blip>
          <a:stretch>
            <a:fillRect/>
          </a:stretch>
        </p:blipFill>
        <p:spPr>
          <a:xfrm rot="438004">
            <a:off x="1191791" y="1892192"/>
            <a:ext cx="1969743" cy="1969743"/>
          </a:xfrm>
          <a:prstGeom prst="rect">
            <a:avLst/>
          </a:prstGeom>
          <a:noFill/>
          <a:ln>
            <a:noFill/>
          </a:ln>
        </p:spPr>
      </p:pic>
      <p:pic>
        <p:nvPicPr>
          <p:cNvPr id="118" name="Google Shape;118;p20"/>
          <p:cNvPicPr preferRelativeResize="0"/>
          <p:nvPr/>
        </p:nvPicPr>
        <p:blipFill>
          <a:blip r:embed="rId4">
            <a:alphaModFix/>
          </a:blip>
          <a:stretch>
            <a:fillRect/>
          </a:stretch>
        </p:blipFill>
        <p:spPr>
          <a:xfrm rot="584115">
            <a:off x="6550469" y="2630104"/>
            <a:ext cx="2160160" cy="2156167"/>
          </a:xfrm>
          <a:prstGeom prst="rect">
            <a:avLst/>
          </a:prstGeom>
          <a:noFill/>
          <a:ln>
            <a:noFill/>
          </a:ln>
        </p:spPr>
      </p:pic>
      <p:pic>
        <p:nvPicPr>
          <p:cNvPr id="119" name="Google Shape;119;p20"/>
          <p:cNvPicPr preferRelativeResize="0"/>
          <p:nvPr/>
        </p:nvPicPr>
        <p:blipFill>
          <a:blip r:embed="rId4">
            <a:alphaModFix/>
          </a:blip>
          <a:stretch>
            <a:fillRect/>
          </a:stretch>
        </p:blipFill>
        <p:spPr>
          <a:xfrm rot="129277">
            <a:off x="5515978" y="709700"/>
            <a:ext cx="2018444" cy="2014724"/>
          </a:xfrm>
          <a:prstGeom prst="rect">
            <a:avLst/>
          </a:prstGeom>
          <a:noFill/>
          <a:ln>
            <a:noFill/>
          </a:ln>
        </p:spPr>
      </p:pic>
      <p:pic>
        <p:nvPicPr>
          <p:cNvPr id="120" name="Google Shape;120;p20"/>
          <p:cNvPicPr preferRelativeResize="0"/>
          <p:nvPr/>
        </p:nvPicPr>
        <p:blipFill>
          <a:blip r:embed="rId4">
            <a:alphaModFix/>
          </a:blip>
          <a:stretch>
            <a:fillRect/>
          </a:stretch>
        </p:blipFill>
        <p:spPr>
          <a:xfrm rot="-710679">
            <a:off x="2175878" y="1259437"/>
            <a:ext cx="2018444" cy="2014723"/>
          </a:xfrm>
          <a:prstGeom prst="rect">
            <a:avLst/>
          </a:prstGeom>
          <a:noFill/>
          <a:ln>
            <a:noFill/>
          </a:ln>
        </p:spPr>
      </p:pic>
      <p:pic>
        <p:nvPicPr>
          <p:cNvPr id="121" name="Google Shape;121;p20"/>
          <p:cNvPicPr preferRelativeResize="0"/>
          <p:nvPr/>
        </p:nvPicPr>
        <p:blipFill>
          <a:blip r:embed="rId3">
            <a:alphaModFix/>
          </a:blip>
          <a:stretch>
            <a:fillRect/>
          </a:stretch>
        </p:blipFill>
        <p:spPr>
          <a:xfrm rot="-254291">
            <a:off x="2526981" y="2647255"/>
            <a:ext cx="2121867" cy="2121867"/>
          </a:xfrm>
          <a:prstGeom prst="rect">
            <a:avLst/>
          </a:prstGeom>
          <a:noFill/>
          <a:ln>
            <a:noFill/>
          </a:ln>
        </p:spPr>
      </p:pic>
      <p:pic>
        <p:nvPicPr>
          <p:cNvPr id="122" name="Google Shape;122;p20"/>
          <p:cNvPicPr preferRelativeResize="0"/>
          <p:nvPr/>
        </p:nvPicPr>
        <p:blipFill>
          <a:blip r:embed="rId4">
            <a:alphaModFix/>
          </a:blip>
          <a:stretch>
            <a:fillRect/>
          </a:stretch>
        </p:blipFill>
        <p:spPr>
          <a:xfrm rot="16">
            <a:off x="4103924" y="2467136"/>
            <a:ext cx="2389001" cy="2384609"/>
          </a:xfrm>
          <a:prstGeom prst="rect">
            <a:avLst/>
          </a:prstGeom>
          <a:noFill/>
          <a:ln>
            <a:noFill/>
          </a:ln>
        </p:spPr>
      </p:pic>
      <p:pic>
        <p:nvPicPr>
          <p:cNvPr id="123" name="Google Shape;123;p20"/>
          <p:cNvPicPr preferRelativeResize="0"/>
          <p:nvPr/>
        </p:nvPicPr>
        <p:blipFill>
          <a:blip r:embed="rId5">
            <a:alphaModFix/>
          </a:blip>
          <a:stretch>
            <a:fillRect/>
          </a:stretch>
        </p:blipFill>
        <p:spPr>
          <a:xfrm>
            <a:off x="1686679" y="3197824"/>
            <a:ext cx="1692770" cy="1518426"/>
          </a:xfrm>
          <a:prstGeom prst="rect">
            <a:avLst/>
          </a:prstGeom>
          <a:noFill/>
          <a:ln>
            <a:noFill/>
          </a:ln>
        </p:spPr>
      </p:pic>
      <p:pic>
        <p:nvPicPr>
          <p:cNvPr id="124" name="Google Shape;124;p20"/>
          <p:cNvPicPr preferRelativeResize="0"/>
          <p:nvPr/>
        </p:nvPicPr>
        <p:blipFill>
          <a:blip r:embed="rId5">
            <a:alphaModFix/>
          </a:blip>
          <a:stretch>
            <a:fillRect/>
          </a:stretch>
        </p:blipFill>
        <p:spPr>
          <a:xfrm rot="-481646">
            <a:off x="3532379" y="1568650"/>
            <a:ext cx="1692769" cy="1518425"/>
          </a:xfrm>
          <a:prstGeom prst="rect">
            <a:avLst/>
          </a:prstGeom>
          <a:noFill/>
          <a:ln>
            <a:noFill/>
          </a:ln>
        </p:spPr>
      </p:pic>
      <p:pic>
        <p:nvPicPr>
          <p:cNvPr id="125" name="Google Shape;125;p20"/>
          <p:cNvPicPr preferRelativeResize="0"/>
          <p:nvPr/>
        </p:nvPicPr>
        <p:blipFill>
          <a:blip r:embed="rId5">
            <a:alphaModFix/>
          </a:blip>
          <a:stretch>
            <a:fillRect/>
          </a:stretch>
        </p:blipFill>
        <p:spPr>
          <a:xfrm rot="433281">
            <a:off x="5678816" y="3097450"/>
            <a:ext cx="1692769" cy="1518425"/>
          </a:xfrm>
          <a:prstGeom prst="rect">
            <a:avLst/>
          </a:prstGeom>
          <a:noFill/>
          <a:ln>
            <a:noFill/>
          </a:ln>
        </p:spPr>
      </p:pic>
      <p:pic>
        <p:nvPicPr>
          <p:cNvPr id="126" name="Google Shape;126;p20"/>
          <p:cNvPicPr preferRelativeResize="0"/>
          <p:nvPr/>
        </p:nvPicPr>
        <p:blipFill>
          <a:blip r:embed="rId5">
            <a:alphaModFix/>
          </a:blip>
          <a:stretch>
            <a:fillRect/>
          </a:stretch>
        </p:blipFill>
        <p:spPr>
          <a:xfrm rot="-481638">
            <a:off x="4963886" y="1139673"/>
            <a:ext cx="1007895" cy="904085"/>
          </a:xfrm>
          <a:prstGeom prst="rect">
            <a:avLst/>
          </a:prstGeom>
          <a:noFill/>
          <a:ln>
            <a:noFill/>
          </a:ln>
        </p:spPr>
      </p:pic>
      <p:pic>
        <p:nvPicPr>
          <p:cNvPr id="127" name="Google Shape;127;p20"/>
          <p:cNvPicPr preferRelativeResize="0"/>
          <p:nvPr/>
        </p:nvPicPr>
        <p:blipFill>
          <a:blip r:embed="rId3">
            <a:alphaModFix/>
          </a:blip>
          <a:stretch>
            <a:fillRect/>
          </a:stretch>
        </p:blipFill>
        <p:spPr>
          <a:xfrm rot="838256">
            <a:off x="3987611" y="2874398"/>
            <a:ext cx="1787956" cy="1787956"/>
          </a:xfrm>
          <a:prstGeom prst="rect">
            <a:avLst/>
          </a:prstGeom>
          <a:noFill/>
          <a:ln>
            <a:noFill/>
          </a:ln>
        </p:spPr>
      </p:pic>
      <p:pic>
        <p:nvPicPr>
          <p:cNvPr id="128" name="Google Shape;128;p20"/>
          <p:cNvPicPr preferRelativeResize="0"/>
          <p:nvPr/>
        </p:nvPicPr>
        <p:blipFill>
          <a:blip r:embed="rId4">
            <a:alphaModFix/>
          </a:blip>
          <a:stretch>
            <a:fillRect/>
          </a:stretch>
        </p:blipFill>
        <p:spPr>
          <a:xfrm rot="-486510">
            <a:off x="3285419" y="2743116"/>
            <a:ext cx="1727811" cy="1724620"/>
          </a:xfrm>
          <a:prstGeom prst="rect">
            <a:avLst/>
          </a:prstGeom>
          <a:noFill/>
          <a:ln>
            <a:noFill/>
          </a:ln>
        </p:spPr>
      </p:pic>
      <p:pic>
        <p:nvPicPr>
          <p:cNvPr id="129" name="Google Shape;129;p20"/>
          <p:cNvPicPr preferRelativeResize="0"/>
          <p:nvPr/>
        </p:nvPicPr>
        <p:blipFill>
          <a:blip r:embed="rId4">
            <a:alphaModFix/>
          </a:blip>
          <a:stretch>
            <a:fillRect/>
          </a:stretch>
        </p:blipFill>
        <p:spPr>
          <a:xfrm rot="129276">
            <a:off x="4470556" y="1418449"/>
            <a:ext cx="1822214" cy="1818828"/>
          </a:xfrm>
          <a:prstGeom prst="rect">
            <a:avLst/>
          </a:prstGeom>
          <a:noFill/>
          <a:ln>
            <a:noFill/>
          </a:ln>
        </p:spPr>
      </p:pic>
      <p:pic>
        <p:nvPicPr>
          <p:cNvPr id="130" name="Google Shape;130;p20"/>
          <p:cNvPicPr preferRelativeResize="0"/>
          <p:nvPr/>
        </p:nvPicPr>
        <p:blipFill>
          <a:blip r:embed="rId3">
            <a:alphaModFix/>
          </a:blip>
          <a:stretch>
            <a:fillRect/>
          </a:stretch>
        </p:blipFill>
        <p:spPr>
          <a:xfrm rot="-516779">
            <a:off x="2718816" y="732192"/>
            <a:ext cx="1969743" cy="1969743"/>
          </a:xfrm>
          <a:prstGeom prst="rect">
            <a:avLst/>
          </a:prstGeom>
          <a:noFill/>
          <a:ln>
            <a:noFill/>
          </a:ln>
        </p:spPr>
      </p:pic>
      <p:pic>
        <p:nvPicPr>
          <p:cNvPr id="131" name="Google Shape;131;p20"/>
          <p:cNvPicPr preferRelativeResize="0"/>
          <p:nvPr/>
        </p:nvPicPr>
        <p:blipFill>
          <a:blip r:embed="rId4">
            <a:alphaModFix/>
          </a:blip>
          <a:stretch>
            <a:fillRect/>
          </a:stretch>
        </p:blipFill>
        <p:spPr>
          <a:xfrm rot="-710679">
            <a:off x="2027628" y="2062387"/>
            <a:ext cx="2018444" cy="2014723"/>
          </a:xfrm>
          <a:prstGeom prst="rect">
            <a:avLst/>
          </a:prstGeom>
          <a:noFill/>
          <a:ln>
            <a:noFill/>
          </a:ln>
        </p:spPr>
      </p:pic>
      <p:pic>
        <p:nvPicPr>
          <p:cNvPr id="132" name="Google Shape;132;p20"/>
          <p:cNvPicPr preferRelativeResize="0"/>
          <p:nvPr/>
        </p:nvPicPr>
        <p:blipFill>
          <a:blip r:embed="rId4">
            <a:alphaModFix/>
          </a:blip>
          <a:stretch>
            <a:fillRect/>
          </a:stretch>
        </p:blipFill>
        <p:spPr>
          <a:xfrm rot="133440">
            <a:off x="5628827" y="1813826"/>
            <a:ext cx="2039472" cy="2035698"/>
          </a:xfrm>
          <a:prstGeom prst="rect">
            <a:avLst/>
          </a:prstGeom>
          <a:noFill/>
          <a:ln>
            <a:noFill/>
          </a:ln>
        </p:spPr>
      </p:pic>
      <p:pic>
        <p:nvPicPr>
          <p:cNvPr id="133" name="Google Shape;133;p20"/>
          <p:cNvPicPr preferRelativeResize="0"/>
          <p:nvPr/>
        </p:nvPicPr>
        <p:blipFill>
          <a:blip r:embed="rId3">
            <a:alphaModFix/>
          </a:blip>
          <a:stretch>
            <a:fillRect/>
          </a:stretch>
        </p:blipFill>
        <p:spPr>
          <a:xfrm rot="227992">
            <a:off x="5361921" y="1962322"/>
            <a:ext cx="1218835" cy="1218857"/>
          </a:xfrm>
          <a:prstGeom prst="rect">
            <a:avLst/>
          </a:prstGeom>
          <a:noFill/>
          <a:ln>
            <a:noFill/>
          </a:ln>
        </p:spPr>
      </p:pic>
      <p:pic>
        <p:nvPicPr>
          <p:cNvPr id="134" name="Google Shape;134;p20"/>
          <p:cNvPicPr preferRelativeResize="0"/>
          <p:nvPr/>
        </p:nvPicPr>
        <p:blipFill>
          <a:blip r:embed="rId4">
            <a:alphaModFix/>
          </a:blip>
          <a:stretch>
            <a:fillRect/>
          </a:stretch>
        </p:blipFill>
        <p:spPr>
          <a:xfrm rot="-486510">
            <a:off x="3514857" y="666791"/>
            <a:ext cx="1727811" cy="1724620"/>
          </a:xfrm>
          <a:prstGeom prst="rect">
            <a:avLst/>
          </a:prstGeom>
          <a:noFill/>
          <a:ln>
            <a:noFill/>
          </a:ln>
        </p:spPr>
      </p:pic>
      <p:pic>
        <p:nvPicPr>
          <p:cNvPr id="135" name="Google Shape;135;p20"/>
          <p:cNvPicPr preferRelativeResize="0"/>
          <p:nvPr/>
        </p:nvPicPr>
        <p:blipFill>
          <a:blip r:embed="rId4">
            <a:alphaModFix/>
          </a:blip>
          <a:stretch>
            <a:fillRect/>
          </a:stretch>
        </p:blipFill>
        <p:spPr>
          <a:xfrm rot="129277">
            <a:off x="4962116" y="2667100"/>
            <a:ext cx="2018444" cy="2014724"/>
          </a:xfrm>
          <a:prstGeom prst="rect">
            <a:avLst/>
          </a:prstGeom>
          <a:noFill/>
          <a:ln>
            <a:noFill/>
          </a:ln>
        </p:spPr>
      </p:pic>
      <p:pic>
        <p:nvPicPr>
          <p:cNvPr id="136" name="Google Shape;136;p20"/>
          <p:cNvPicPr preferRelativeResize="0"/>
          <p:nvPr/>
        </p:nvPicPr>
        <p:blipFill>
          <a:blip r:embed="rId5">
            <a:alphaModFix/>
          </a:blip>
          <a:stretch>
            <a:fillRect/>
          </a:stretch>
        </p:blipFill>
        <p:spPr>
          <a:xfrm rot="1368906">
            <a:off x="3975571" y="2479651"/>
            <a:ext cx="1315685" cy="1180171"/>
          </a:xfrm>
          <a:prstGeom prst="rect">
            <a:avLst/>
          </a:prstGeom>
          <a:noFill/>
          <a:ln>
            <a:noFill/>
          </a:ln>
        </p:spPr>
      </p:pic>
      <p:pic>
        <p:nvPicPr>
          <p:cNvPr id="137" name="Google Shape;137;p20"/>
          <p:cNvPicPr preferRelativeResize="0"/>
          <p:nvPr/>
        </p:nvPicPr>
        <p:blipFill>
          <a:blip r:embed="rId5">
            <a:alphaModFix/>
          </a:blip>
          <a:stretch>
            <a:fillRect/>
          </a:stretch>
        </p:blipFill>
        <p:spPr>
          <a:xfrm rot="-417412">
            <a:off x="5990722" y="2600851"/>
            <a:ext cx="1315683" cy="1180172"/>
          </a:xfrm>
          <a:prstGeom prst="rect">
            <a:avLst/>
          </a:prstGeom>
          <a:noFill/>
          <a:ln>
            <a:noFill/>
          </a:ln>
        </p:spPr>
      </p:pic>
      <p:pic>
        <p:nvPicPr>
          <p:cNvPr id="138" name="Google Shape;138;p20"/>
          <p:cNvPicPr preferRelativeResize="0"/>
          <p:nvPr/>
        </p:nvPicPr>
        <p:blipFill>
          <a:blip r:embed="rId3">
            <a:alphaModFix/>
          </a:blip>
          <a:stretch>
            <a:fillRect/>
          </a:stretch>
        </p:blipFill>
        <p:spPr>
          <a:xfrm rot="437995">
            <a:off x="1342205" y="2907950"/>
            <a:ext cx="1170595" cy="1170573"/>
          </a:xfrm>
          <a:prstGeom prst="rect">
            <a:avLst/>
          </a:prstGeom>
          <a:noFill/>
          <a:ln>
            <a:noFill/>
          </a:ln>
        </p:spPr>
      </p:pic>
      <p:pic>
        <p:nvPicPr>
          <p:cNvPr id="139" name="Google Shape;139;p20"/>
          <p:cNvPicPr preferRelativeResize="0"/>
          <p:nvPr/>
        </p:nvPicPr>
        <p:blipFill>
          <a:blip r:embed="rId5">
            <a:alphaModFix/>
          </a:blip>
          <a:stretch>
            <a:fillRect/>
          </a:stretch>
        </p:blipFill>
        <p:spPr>
          <a:xfrm rot="451877">
            <a:off x="5378042" y="1266566"/>
            <a:ext cx="1559570" cy="1398925"/>
          </a:xfrm>
          <a:prstGeom prst="rect">
            <a:avLst/>
          </a:prstGeom>
          <a:noFill/>
          <a:ln>
            <a:noFill/>
          </a:ln>
        </p:spPr>
      </p:pic>
      <p:pic>
        <p:nvPicPr>
          <p:cNvPr id="140" name="Google Shape;140;p20"/>
          <p:cNvPicPr preferRelativeResize="0"/>
          <p:nvPr/>
        </p:nvPicPr>
        <p:blipFill>
          <a:blip r:embed="rId5">
            <a:alphaModFix/>
          </a:blip>
          <a:stretch>
            <a:fillRect/>
          </a:stretch>
        </p:blipFill>
        <p:spPr>
          <a:xfrm rot="-305588">
            <a:off x="2128445" y="1588482"/>
            <a:ext cx="1108318" cy="994161"/>
          </a:xfrm>
          <a:prstGeom prst="rect">
            <a:avLst/>
          </a:prstGeom>
          <a:noFill/>
          <a:ln>
            <a:noFill/>
          </a:ln>
        </p:spPr>
      </p:pic>
      <p:pic>
        <p:nvPicPr>
          <p:cNvPr id="141" name="Google Shape;141;p20"/>
          <p:cNvPicPr preferRelativeResize="0"/>
          <p:nvPr/>
        </p:nvPicPr>
        <p:blipFill>
          <a:blip r:embed="rId4">
            <a:alphaModFix/>
          </a:blip>
          <a:stretch>
            <a:fillRect/>
          </a:stretch>
        </p:blipFill>
        <p:spPr>
          <a:xfrm rot="129276">
            <a:off x="6321835" y="1631637"/>
            <a:ext cx="1696783" cy="1693630"/>
          </a:xfrm>
          <a:prstGeom prst="rect">
            <a:avLst/>
          </a:prstGeom>
          <a:noFill/>
          <a:ln>
            <a:noFill/>
          </a:ln>
        </p:spPr>
      </p:pic>
      <p:sp>
        <p:nvSpPr>
          <p:cNvPr id="2" name="Google Shape;103;p19">
            <a:extLst>
              <a:ext uri="{FF2B5EF4-FFF2-40B4-BE49-F238E27FC236}">
                <a16:creationId xmlns:a16="http://schemas.microsoft.com/office/drawing/2014/main" id="{C01F12DD-0906-F637-E6A1-B67122D0BFB6}"/>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2</a:t>
            </a:fld>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3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3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13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3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3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3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3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39"/>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4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4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Problem</a:t>
            </a:r>
            <a:endParaRPr/>
          </a:p>
        </p:txBody>
      </p:sp>
      <p:sp>
        <p:nvSpPr>
          <p:cNvPr id="148" name="Google Shape;148;p21"/>
          <p:cNvSpPr/>
          <p:nvPr/>
        </p:nvSpPr>
        <p:spPr>
          <a:xfrm>
            <a:off x="92400" y="3903085"/>
            <a:ext cx="2239800" cy="337800"/>
          </a:xfrm>
          <a:prstGeom prst="rect">
            <a:avLst/>
          </a:prstGeom>
          <a:solidFill>
            <a:srgbClr val="002E6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21"/>
          <p:cNvSpPr/>
          <p:nvPr/>
        </p:nvSpPr>
        <p:spPr>
          <a:xfrm>
            <a:off x="859800" y="3734185"/>
            <a:ext cx="705000" cy="675600"/>
          </a:xfrm>
          <a:prstGeom prst="ellipse">
            <a:avLst/>
          </a:prstGeom>
          <a:solidFill>
            <a:srgbClr val="FFFFFF"/>
          </a:solidFill>
          <a:ln w="38100" cap="flat" cmpd="sng">
            <a:solidFill>
              <a:srgbClr val="002E6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1"/>
          <p:cNvSpPr txBox="1"/>
          <p:nvPr/>
        </p:nvSpPr>
        <p:spPr>
          <a:xfrm>
            <a:off x="141000" y="2874424"/>
            <a:ext cx="2032800" cy="899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rgbClr val="002E65"/>
                </a:solidFill>
              </a:rPr>
              <a:t>ISSUE 1</a:t>
            </a:r>
            <a:endParaRPr b="1">
              <a:solidFill>
                <a:srgbClr val="002E65"/>
              </a:solidFill>
            </a:endParaRPr>
          </a:p>
          <a:p>
            <a:pPr marL="0" lvl="0" indent="0" algn="l" rtl="0">
              <a:lnSpc>
                <a:spcPct val="115000"/>
              </a:lnSpc>
              <a:spcBef>
                <a:spcPts val="0"/>
              </a:spcBef>
              <a:spcAft>
                <a:spcPts val="0"/>
              </a:spcAft>
              <a:buNone/>
            </a:pPr>
            <a:r>
              <a:rPr lang="en">
                <a:solidFill>
                  <a:srgbClr val="595959"/>
                </a:solidFill>
              </a:rPr>
              <a:t>Waste generation is increasing each year.</a:t>
            </a:r>
            <a:endParaRPr sz="16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p:txBody>
      </p:sp>
      <p:sp>
        <p:nvSpPr>
          <p:cNvPr id="151" name="Google Shape;151;p21"/>
          <p:cNvSpPr/>
          <p:nvPr/>
        </p:nvSpPr>
        <p:spPr>
          <a:xfrm>
            <a:off x="2332200" y="3227485"/>
            <a:ext cx="2239800" cy="337800"/>
          </a:xfrm>
          <a:prstGeom prst="rect">
            <a:avLst/>
          </a:prstGeom>
          <a:solidFill>
            <a:srgbClr val="002E65">
              <a:alpha val="8861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CC0000"/>
              </a:solidFill>
            </a:endParaRPr>
          </a:p>
        </p:txBody>
      </p:sp>
      <p:sp>
        <p:nvSpPr>
          <p:cNvPr id="152" name="Google Shape;152;p21"/>
          <p:cNvSpPr/>
          <p:nvPr/>
        </p:nvSpPr>
        <p:spPr>
          <a:xfrm flipH="1">
            <a:off x="1904700" y="3227485"/>
            <a:ext cx="427500" cy="675600"/>
          </a:xfrm>
          <a:prstGeom prst="rtTriangle">
            <a:avLst/>
          </a:prstGeom>
          <a:solidFill>
            <a:srgbClr val="00204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1"/>
          <p:cNvSpPr/>
          <p:nvPr/>
        </p:nvSpPr>
        <p:spPr>
          <a:xfrm>
            <a:off x="3099600" y="3058585"/>
            <a:ext cx="705000" cy="675600"/>
          </a:xfrm>
          <a:prstGeom prst="ellipse">
            <a:avLst/>
          </a:prstGeom>
          <a:solidFill>
            <a:srgbClr val="FFFFFF"/>
          </a:solidFill>
          <a:ln w="38100" cap="flat" cmpd="sng">
            <a:solidFill>
              <a:srgbClr val="21467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21"/>
          <p:cNvSpPr txBox="1"/>
          <p:nvPr/>
        </p:nvSpPr>
        <p:spPr>
          <a:xfrm>
            <a:off x="2380800" y="2348353"/>
            <a:ext cx="2032800" cy="67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rgbClr val="214678"/>
                </a:solidFill>
              </a:rPr>
              <a:t>ISSUE 2</a:t>
            </a:r>
            <a:endParaRPr b="1">
              <a:solidFill>
                <a:srgbClr val="214678"/>
              </a:solidFill>
            </a:endParaRPr>
          </a:p>
          <a:p>
            <a:pPr marL="0" lvl="0" indent="0" algn="l" rtl="0">
              <a:lnSpc>
                <a:spcPct val="115000"/>
              </a:lnSpc>
              <a:spcBef>
                <a:spcPts val="0"/>
              </a:spcBef>
              <a:spcAft>
                <a:spcPts val="0"/>
              </a:spcAft>
              <a:buNone/>
            </a:pPr>
            <a:r>
              <a:rPr lang="en">
                <a:solidFill>
                  <a:srgbClr val="595959"/>
                </a:solidFill>
              </a:rPr>
              <a:t>Too much waste to sort.</a:t>
            </a:r>
            <a:endParaRPr sz="1600">
              <a:solidFill>
                <a:srgbClr val="595959"/>
              </a:solidFill>
              <a:latin typeface="Lato"/>
              <a:ea typeface="Lato"/>
              <a:cs typeface="Lato"/>
              <a:sym typeface="Lato"/>
            </a:endParaRPr>
          </a:p>
          <a:p>
            <a:pPr marL="0" lvl="0" indent="0" algn="l" rtl="0">
              <a:spcBef>
                <a:spcPts val="0"/>
              </a:spcBef>
              <a:spcAft>
                <a:spcPts val="0"/>
              </a:spcAft>
              <a:buNone/>
            </a:pPr>
            <a:endParaRPr sz="1800">
              <a:solidFill>
                <a:srgbClr val="595959"/>
              </a:solidFill>
              <a:latin typeface="Lato"/>
              <a:ea typeface="Lato"/>
              <a:cs typeface="Lato"/>
              <a:sym typeface="Lato"/>
            </a:endParaRPr>
          </a:p>
        </p:txBody>
      </p:sp>
      <p:sp>
        <p:nvSpPr>
          <p:cNvPr id="155" name="Google Shape;155;p21"/>
          <p:cNvSpPr/>
          <p:nvPr/>
        </p:nvSpPr>
        <p:spPr>
          <a:xfrm>
            <a:off x="4572000" y="2551885"/>
            <a:ext cx="2239800" cy="337800"/>
          </a:xfrm>
          <a:prstGeom prst="rect">
            <a:avLst/>
          </a:prstGeom>
          <a:solidFill>
            <a:srgbClr val="002E66">
              <a:alpha val="683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 name="Google Shape;156;p21"/>
          <p:cNvSpPr/>
          <p:nvPr/>
        </p:nvSpPr>
        <p:spPr>
          <a:xfrm flipH="1">
            <a:off x="4144500" y="2551885"/>
            <a:ext cx="427500" cy="675600"/>
          </a:xfrm>
          <a:prstGeom prst="rtTriangle">
            <a:avLst/>
          </a:prstGeom>
          <a:solidFill>
            <a:srgbClr val="002E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 name="Google Shape;157;p21"/>
          <p:cNvSpPr/>
          <p:nvPr/>
        </p:nvSpPr>
        <p:spPr>
          <a:xfrm>
            <a:off x="5339400" y="2382985"/>
            <a:ext cx="705000" cy="675600"/>
          </a:xfrm>
          <a:prstGeom prst="ellipse">
            <a:avLst/>
          </a:prstGeom>
          <a:solidFill>
            <a:srgbClr val="FFFFFF"/>
          </a:solidFill>
          <a:ln w="38100" cap="flat" cmpd="sng">
            <a:solidFill>
              <a:srgbClr val="55719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21"/>
          <p:cNvSpPr txBox="1"/>
          <p:nvPr/>
        </p:nvSpPr>
        <p:spPr>
          <a:xfrm>
            <a:off x="4657724" y="1311231"/>
            <a:ext cx="2142600" cy="1130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rgbClr val="557197"/>
                </a:solidFill>
              </a:rPr>
              <a:t>ISSUE 3</a:t>
            </a:r>
            <a:endParaRPr b="1">
              <a:solidFill>
                <a:srgbClr val="557197"/>
              </a:solidFill>
            </a:endParaRPr>
          </a:p>
          <a:p>
            <a:pPr marL="0" lvl="0" indent="0" algn="l" rtl="0">
              <a:lnSpc>
                <a:spcPct val="115000"/>
              </a:lnSpc>
              <a:spcBef>
                <a:spcPts val="0"/>
              </a:spcBef>
              <a:spcAft>
                <a:spcPts val="0"/>
              </a:spcAft>
              <a:buNone/>
            </a:pPr>
            <a:r>
              <a:rPr lang="en">
                <a:solidFill>
                  <a:srgbClr val="595959"/>
                </a:solidFill>
              </a:rPr>
              <a:t>Waste that could have been recycled ends up in landfills.</a:t>
            </a:r>
            <a:endParaRPr sz="1800">
              <a:solidFill>
                <a:srgbClr val="595959"/>
              </a:solidFill>
              <a:latin typeface="Lato"/>
              <a:ea typeface="Lato"/>
              <a:cs typeface="Lato"/>
              <a:sym typeface="Lato"/>
            </a:endParaRPr>
          </a:p>
        </p:txBody>
      </p:sp>
      <p:sp>
        <p:nvSpPr>
          <p:cNvPr id="159" name="Google Shape;159;p21"/>
          <p:cNvSpPr/>
          <p:nvPr/>
        </p:nvSpPr>
        <p:spPr>
          <a:xfrm>
            <a:off x="6811800" y="1876285"/>
            <a:ext cx="2239800" cy="337800"/>
          </a:xfrm>
          <a:prstGeom prst="rect">
            <a:avLst/>
          </a:prstGeom>
          <a:solidFill>
            <a:srgbClr val="002E66">
              <a:alpha val="443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 name="Google Shape;160;p21"/>
          <p:cNvSpPr/>
          <p:nvPr/>
        </p:nvSpPr>
        <p:spPr>
          <a:xfrm flipH="1">
            <a:off x="6384300" y="1876285"/>
            <a:ext cx="427500" cy="675600"/>
          </a:xfrm>
          <a:prstGeom prst="rtTriangle">
            <a:avLst/>
          </a:prstGeom>
          <a:solidFill>
            <a:srgbClr val="385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 name="Google Shape;161;p21"/>
          <p:cNvSpPr/>
          <p:nvPr/>
        </p:nvSpPr>
        <p:spPr>
          <a:xfrm>
            <a:off x="7579200" y="1707385"/>
            <a:ext cx="705000" cy="675600"/>
          </a:xfrm>
          <a:prstGeom prst="ellipse">
            <a:avLst/>
          </a:prstGeom>
          <a:solidFill>
            <a:srgbClr val="FFFFFF"/>
          </a:solidFill>
          <a:ln w="38100" cap="flat" cmpd="sng">
            <a:solidFill>
              <a:srgbClr val="92A3B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 name="Google Shape;162;p21"/>
          <p:cNvSpPr txBox="1"/>
          <p:nvPr/>
        </p:nvSpPr>
        <p:spPr>
          <a:xfrm>
            <a:off x="6860400" y="943522"/>
            <a:ext cx="2142600" cy="971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rgbClr val="92A3BC"/>
                </a:solidFill>
              </a:rPr>
              <a:t>ISSUE 4</a:t>
            </a:r>
            <a:endParaRPr b="1">
              <a:solidFill>
                <a:srgbClr val="92A3BC"/>
              </a:solidFill>
            </a:endParaRPr>
          </a:p>
          <a:p>
            <a:pPr marL="0" lvl="0" indent="0" algn="l" rtl="0">
              <a:lnSpc>
                <a:spcPct val="115000"/>
              </a:lnSpc>
              <a:spcBef>
                <a:spcPts val="0"/>
              </a:spcBef>
              <a:spcAft>
                <a:spcPts val="0"/>
              </a:spcAft>
              <a:buNone/>
            </a:pPr>
            <a:r>
              <a:rPr lang="en">
                <a:solidFill>
                  <a:srgbClr val="595959"/>
                </a:solidFill>
              </a:rPr>
              <a:t>Water, soil, and air pollution.</a:t>
            </a:r>
            <a:endParaRPr>
              <a:solidFill>
                <a:srgbClr val="595959"/>
              </a:solidFill>
            </a:endParaRPr>
          </a:p>
        </p:txBody>
      </p:sp>
      <p:pic>
        <p:nvPicPr>
          <p:cNvPr id="163" name="Google Shape;163;p21"/>
          <p:cNvPicPr preferRelativeResize="0"/>
          <p:nvPr/>
        </p:nvPicPr>
        <p:blipFill>
          <a:blip r:embed="rId3">
            <a:alphaModFix/>
          </a:blip>
          <a:stretch>
            <a:fillRect/>
          </a:stretch>
        </p:blipFill>
        <p:spPr>
          <a:xfrm>
            <a:off x="998550" y="3859133"/>
            <a:ext cx="427500" cy="425740"/>
          </a:xfrm>
          <a:prstGeom prst="rect">
            <a:avLst/>
          </a:prstGeom>
          <a:noFill/>
          <a:ln>
            <a:noFill/>
          </a:ln>
        </p:spPr>
      </p:pic>
      <p:pic>
        <p:nvPicPr>
          <p:cNvPr id="164" name="Google Shape;164;p21"/>
          <p:cNvPicPr preferRelativeResize="0"/>
          <p:nvPr/>
        </p:nvPicPr>
        <p:blipFill>
          <a:blip r:embed="rId4">
            <a:alphaModFix/>
          </a:blip>
          <a:stretch>
            <a:fillRect/>
          </a:stretch>
        </p:blipFill>
        <p:spPr>
          <a:xfrm>
            <a:off x="7654650" y="1764287"/>
            <a:ext cx="554100" cy="561812"/>
          </a:xfrm>
          <a:prstGeom prst="rect">
            <a:avLst/>
          </a:prstGeom>
          <a:noFill/>
          <a:ln>
            <a:noFill/>
          </a:ln>
        </p:spPr>
      </p:pic>
      <p:pic>
        <p:nvPicPr>
          <p:cNvPr id="165" name="Google Shape;165;p21"/>
          <p:cNvPicPr preferRelativeResize="0"/>
          <p:nvPr/>
        </p:nvPicPr>
        <p:blipFill>
          <a:blip r:embed="rId5">
            <a:alphaModFix/>
          </a:blip>
          <a:stretch>
            <a:fillRect/>
          </a:stretch>
        </p:blipFill>
        <p:spPr>
          <a:xfrm>
            <a:off x="5409000" y="2437897"/>
            <a:ext cx="565800" cy="565800"/>
          </a:xfrm>
          <a:prstGeom prst="rect">
            <a:avLst/>
          </a:prstGeom>
          <a:noFill/>
          <a:ln>
            <a:noFill/>
          </a:ln>
        </p:spPr>
      </p:pic>
      <p:pic>
        <p:nvPicPr>
          <p:cNvPr id="166" name="Google Shape;166;p21"/>
          <p:cNvPicPr preferRelativeResize="0"/>
          <p:nvPr/>
        </p:nvPicPr>
        <p:blipFill>
          <a:blip r:embed="rId6">
            <a:alphaModFix/>
          </a:blip>
          <a:stretch>
            <a:fillRect/>
          </a:stretch>
        </p:blipFill>
        <p:spPr>
          <a:xfrm>
            <a:off x="3207750" y="3152047"/>
            <a:ext cx="488700" cy="488700"/>
          </a:xfrm>
          <a:prstGeom prst="rect">
            <a:avLst/>
          </a:prstGeom>
          <a:noFill/>
          <a:ln>
            <a:noFill/>
          </a:ln>
        </p:spPr>
      </p:pic>
      <p:sp>
        <p:nvSpPr>
          <p:cNvPr id="2" name="Google Shape;103;p19">
            <a:extLst>
              <a:ext uri="{FF2B5EF4-FFF2-40B4-BE49-F238E27FC236}">
                <a16:creationId xmlns:a16="http://schemas.microsoft.com/office/drawing/2014/main" id="{0589548D-AF32-D39F-D8D8-1818E760D321}"/>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3</a:t>
            </a:fld>
            <a:endParaRPr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Solution</a:t>
            </a:r>
            <a:endParaRPr/>
          </a:p>
        </p:txBody>
      </p:sp>
      <p:grpSp>
        <p:nvGrpSpPr>
          <p:cNvPr id="173" name="Google Shape;173;p22"/>
          <p:cNvGrpSpPr/>
          <p:nvPr/>
        </p:nvGrpSpPr>
        <p:grpSpPr>
          <a:xfrm>
            <a:off x="585375" y="1216025"/>
            <a:ext cx="2240225" cy="2476150"/>
            <a:chOff x="519475" y="1640625"/>
            <a:chExt cx="2240225" cy="2476150"/>
          </a:xfrm>
        </p:grpSpPr>
        <p:sp>
          <p:nvSpPr>
            <p:cNvPr id="174" name="Google Shape;174;p22"/>
            <p:cNvSpPr/>
            <p:nvPr/>
          </p:nvSpPr>
          <p:spPr>
            <a:xfrm>
              <a:off x="613800" y="1640625"/>
              <a:ext cx="2145900" cy="720300"/>
            </a:xfrm>
            <a:prstGeom prst="homePlate">
              <a:avLst>
                <a:gd name="adj" fmla="val 50000"/>
              </a:avLst>
            </a:prstGeom>
            <a:solidFill>
              <a:srgbClr val="002E6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rPr>
                <a:t>Build a Trash Classification Model</a:t>
              </a:r>
              <a:endParaRPr b="1">
                <a:solidFill>
                  <a:srgbClr val="FFFFFF"/>
                </a:solidFill>
              </a:endParaRPr>
            </a:p>
          </p:txBody>
        </p:sp>
        <p:sp>
          <p:nvSpPr>
            <p:cNvPr id="175" name="Google Shape;175;p22"/>
            <p:cNvSpPr txBox="1"/>
            <p:nvPr/>
          </p:nvSpPr>
          <p:spPr>
            <a:xfrm>
              <a:off x="519475" y="2406175"/>
              <a:ext cx="2098500" cy="1710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100"/>
                </a:spcBef>
                <a:spcAft>
                  <a:spcPts val="0"/>
                </a:spcAft>
                <a:buClr>
                  <a:srgbClr val="595959"/>
                </a:buClr>
                <a:buSzPts val="1400"/>
                <a:buChar char="●"/>
              </a:pPr>
              <a:r>
                <a:rPr lang="en">
                  <a:solidFill>
                    <a:srgbClr val="595959"/>
                  </a:solidFill>
                </a:rPr>
                <a:t>Properly classify trash into recycling categories</a:t>
              </a:r>
              <a:endParaRPr>
                <a:solidFill>
                  <a:srgbClr val="595959"/>
                </a:solidFill>
              </a:endParaRPr>
            </a:p>
            <a:p>
              <a:pPr marL="0" lvl="0" indent="0" algn="l" rtl="0">
                <a:lnSpc>
                  <a:spcPct val="115000"/>
                </a:lnSpc>
                <a:spcBef>
                  <a:spcPts val="1100"/>
                </a:spcBef>
                <a:spcAft>
                  <a:spcPts val="0"/>
                </a:spcAft>
                <a:buNone/>
              </a:pPr>
              <a:endParaRPr sz="1600">
                <a:solidFill>
                  <a:srgbClr val="595959"/>
                </a:solidFill>
              </a:endParaRPr>
            </a:p>
            <a:p>
              <a:pPr marL="0" lvl="0" indent="0" algn="l" rtl="0">
                <a:lnSpc>
                  <a:spcPct val="115000"/>
                </a:lnSpc>
                <a:spcBef>
                  <a:spcPts val="0"/>
                </a:spcBef>
                <a:spcAft>
                  <a:spcPts val="0"/>
                </a:spcAft>
                <a:buNone/>
              </a:pPr>
              <a:endParaRPr sz="1600">
                <a:solidFill>
                  <a:srgbClr val="595959"/>
                </a:solidFill>
              </a:endParaRPr>
            </a:p>
            <a:p>
              <a:pPr marL="0" lvl="0" indent="0" algn="l" rtl="0">
                <a:lnSpc>
                  <a:spcPct val="115000"/>
                </a:lnSpc>
                <a:spcBef>
                  <a:spcPts val="0"/>
                </a:spcBef>
                <a:spcAft>
                  <a:spcPts val="0"/>
                </a:spcAft>
                <a:buNone/>
              </a:pPr>
              <a:endParaRPr sz="1600" b="1">
                <a:solidFill>
                  <a:srgbClr val="CC0000"/>
                </a:solidFill>
              </a:endParaRPr>
            </a:p>
            <a:p>
              <a:pPr marL="0" lvl="0" indent="0" algn="l" rtl="0">
                <a:lnSpc>
                  <a:spcPct val="115000"/>
                </a:lnSpc>
                <a:spcBef>
                  <a:spcPts val="0"/>
                </a:spcBef>
                <a:spcAft>
                  <a:spcPts val="0"/>
                </a:spcAft>
                <a:buNone/>
              </a:pPr>
              <a:endParaRPr sz="1600">
                <a:solidFill>
                  <a:srgbClr val="595959"/>
                </a:solidFill>
              </a:endParaRPr>
            </a:p>
            <a:p>
              <a:pPr marL="0" lvl="0" indent="0" algn="l" rtl="0">
                <a:spcBef>
                  <a:spcPts val="0"/>
                </a:spcBef>
                <a:spcAft>
                  <a:spcPts val="0"/>
                </a:spcAft>
                <a:buNone/>
              </a:pPr>
              <a:endParaRPr sz="1800">
                <a:solidFill>
                  <a:srgbClr val="595959"/>
                </a:solidFill>
              </a:endParaRPr>
            </a:p>
          </p:txBody>
        </p:sp>
      </p:grpSp>
      <p:grpSp>
        <p:nvGrpSpPr>
          <p:cNvPr id="176" name="Google Shape;176;p22"/>
          <p:cNvGrpSpPr/>
          <p:nvPr/>
        </p:nvGrpSpPr>
        <p:grpSpPr>
          <a:xfrm>
            <a:off x="2589468" y="1216025"/>
            <a:ext cx="2169932" cy="1789450"/>
            <a:chOff x="2523568" y="1640625"/>
            <a:chExt cx="2169932" cy="1789450"/>
          </a:xfrm>
        </p:grpSpPr>
        <p:sp>
          <p:nvSpPr>
            <p:cNvPr id="177" name="Google Shape;177;p22"/>
            <p:cNvSpPr/>
            <p:nvPr/>
          </p:nvSpPr>
          <p:spPr>
            <a:xfrm>
              <a:off x="2523568" y="1640625"/>
              <a:ext cx="2145900" cy="720300"/>
            </a:xfrm>
            <a:prstGeom prst="chevron">
              <a:avLst>
                <a:gd name="adj" fmla="val 50000"/>
              </a:avLst>
            </a:prstGeom>
            <a:solidFill>
              <a:srgbClr val="21467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Rapid Automated Sorting</a:t>
              </a:r>
              <a:endParaRPr sz="1600" b="1">
                <a:solidFill>
                  <a:srgbClr val="FFFFFF"/>
                </a:solidFill>
              </a:endParaRPr>
            </a:p>
          </p:txBody>
        </p:sp>
        <p:sp>
          <p:nvSpPr>
            <p:cNvPr id="178" name="Google Shape;178;p22"/>
            <p:cNvSpPr txBox="1"/>
            <p:nvPr/>
          </p:nvSpPr>
          <p:spPr>
            <a:xfrm>
              <a:off x="2595000" y="2406175"/>
              <a:ext cx="2098500" cy="10239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100"/>
                </a:spcBef>
                <a:spcAft>
                  <a:spcPts val="0"/>
                </a:spcAft>
                <a:buClr>
                  <a:srgbClr val="595959"/>
                </a:buClr>
                <a:buSzPts val="1400"/>
                <a:buChar char="●"/>
              </a:pPr>
              <a:r>
                <a:rPr lang="en">
                  <a:solidFill>
                    <a:srgbClr val="595959"/>
                  </a:solidFill>
                </a:rPr>
                <a:t>Automate the sorting model to integrate with machinery</a:t>
              </a:r>
              <a:endParaRPr sz="1800">
                <a:solidFill>
                  <a:srgbClr val="595959"/>
                </a:solidFill>
              </a:endParaRPr>
            </a:p>
          </p:txBody>
        </p:sp>
      </p:grpSp>
      <p:grpSp>
        <p:nvGrpSpPr>
          <p:cNvPr id="179" name="Google Shape;179;p22"/>
          <p:cNvGrpSpPr/>
          <p:nvPr/>
        </p:nvGrpSpPr>
        <p:grpSpPr>
          <a:xfrm>
            <a:off x="4365775" y="1216025"/>
            <a:ext cx="2286671" cy="2048350"/>
            <a:chOff x="4299875" y="1640625"/>
            <a:chExt cx="2286671" cy="2048350"/>
          </a:xfrm>
        </p:grpSpPr>
        <p:sp>
          <p:nvSpPr>
            <p:cNvPr id="180" name="Google Shape;180;p22"/>
            <p:cNvSpPr/>
            <p:nvPr/>
          </p:nvSpPr>
          <p:spPr>
            <a:xfrm>
              <a:off x="4440646" y="1640625"/>
              <a:ext cx="2145900" cy="720300"/>
            </a:xfrm>
            <a:prstGeom prst="chevron">
              <a:avLst>
                <a:gd name="adj" fmla="val 50000"/>
              </a:avLst>
            </a:prstGeom>
            <a:solidFill>
              <a:srgbClr val="557197"/>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b="1">
                  <a:solidFill>
                    <a:srgbClr val="FFFFFF"/>
                  </a:solidFill>
                </a:rPr>
                <a:t>Efficient and Proper Trash Sorting</a:t>
              </a:r>
              <a:endParaRPr b="1">
                <a:solidFill>
                  <a:srgbClr val="FFFFFF"/>
                </a:solidFill>
              </a:endParaRPr>
            </a:p>
          </p:txBody>
        </p:sp>
        <p:sp>
          <p:nvSpPr>
            <p:cNvPr id="181" name="Google Shape;181;p22"/>
            <p:cNvSpPr txBox="1"/>
            <p:nvPr/>
          </p:nvSpPr>
          <p:spPr>
            <a:xfrm>
              <a:off x="4299875" y="2406175"/>
              <a:ext cx="2098500" cy="1282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100"/>
                </a:spcBef>
                <a:spcAft>
                  <a:spcPts val="0"/>
                </a:spcAft>
                <a:buClr>
                  <a:srgbClr val="595959"/>
                </a:buClr>
                <a:buSzPts val="1400"/>
                <a:buChar char="●"/>
              </a:pPr>
              <a:r>
                <a:rPr lang="en">
                  <a:solidFill>
                    <a:srgbClr val="595959"/>
                  </a:solidFill>
                </a:rPr>
                <a:t>Trash sorting is more efficient and done accurately</a:t>
              </a:r>
              <a:endParaRPr>
                <a:solidFill>
                  <a:srgbClr val="595959"/>
                </a:solidFill>
              </a:endParaRPr>
            </a:p>
            <a:p>
              <a:pPr marL="0" lvl="0" indent="0" algn="l" rtl="0">
                <a:lnSpc>
                  <a:spcPct val="115000"/>
                </a:lnSpc>
                <a:spcBef>
                  <a:spcPts val="1100"/>
                </a:spcBef>
                <a:spcAft>
                  <a:spcPts val="0"/>
                </a:spcAft>
                <a:buNone/>
              </a:pPr>
              <a:endParaRPr sz="1600">
                <a:solidFill>
                  <a:srgbClr val="595959"/>
                </a:solidFill>
              </a:endParaRPr>
            </a:p>
            <a:p>
              <a:pPr marL="0" lvl="0" indent="0" algn="l" rtl="0">
                <a:lnSpc>
                  <a:spcPct val="115000"/>
                </a:lnSpc>
                <a:spcBef>
                  <a:spcPts val="0"/>
                </a:spcBef>
                <a:spcAft>
                  <a:spcPts val="0"/>
                </a:spcAft>
                <a:buNone/>
              </a:pPr>
              <a:endParaRPr sz="1600">
                <a:solidFill>
                  <a:srgbClr val="595959"/>
                </a:solidFill>
              </a:endParaRPr>
            </a:p>
            <a:p>
              <a:pPr marL="0" lvl="0" indent="0" algn="l" rtl="0">
                <a:lnSpc>
                  <a:spcPct val="115000"/>
                </a:lnSpc>
                <a:spcBef>
                  <a:spcPts val="0"/>
                </a:spcBef>
                <a:spcAft>
                  <a:spcPts val="0"/>
                </a:spcAft>
                <a:buNone/>
              </a:pPr>
              <a:endParaRPr sz="1600" b="1">
                <a:solidFill>
                  <a:srgbClr val="CC0000"/>
                </a:solidFill>
              </a:endParaRPr>
            </a:p>
            <a:p>
              <a:pPr marL="0" lvl="0" indent="0" algn="l" rtl="0">
                <a:lnSpc>
                  <a:spcPct val="115000"/>
                </a:lnSpc>
                <a:spcBef>
                  <a:spcPts val="0"/>
                </a:spcBef>
                <a:spcAft>
                  <a:spcPts val="0"/>
                </a:spcAft>
                <a:buNone/>
              </a:pPr>
              <a:endParaRPr sz="1600">
                <a:solidFill>
                  <a:srgbClr val="595959"/>
                </a:solidFill>
              </a:endParaRPr>
            </a:p>
            <a:p>
              <a:pPr marL="0" lvl="0" indent="0" algn="l" rtl="0">
                <a:spcBef>
                  <a:spcPts val="0"/>
                </a:spcBef>
                <a:spcAft>
                  <a:spcPts val="0"/>
                </a:spcAft>
                <a:buNone/>
              </a:pPr>
              <a:endParaRPr sz="1800">
                <a:solidFill>
                  <a:srgbClr val="595959"/>
                </a:solidFill>
              </a:endParaRPr>
            </a:p>
          </p:txBody>
        </p:sp>
      </p:grpSp>
      <p:grpSp>
        <p:nvGrpSpPr>
          <p:cNvPr id="182" name="Google Shape;182;p22"/>
          <p:cNvGrpSpPr/>
          <p:nvPr/>
        </p:nvGrpSpPr>
        <p:grpSpPr>
          <a:xfrm>
            <a:off x="6370225" y="1216025"/>
            <a:ext cx="2188412" cy="3241750"/>
            <a:chOff x="6304325" y="1640625"/>
            <a:chExt cx="2188412" cy="3241750"/>
          </a:xfrm>
        </p:grpSpPr>
        <p:sp>
          <p:nvSpPr>
            <p:cNvPr id="183" name="Google Shape;183;p22"/>
            <p:cNvSpPr/>
            <p:nvPr/>
          </p:nvSpPr>
          <p:spPr>
            <a:xfrm>
              <a:off x="6346837" y="1640625"/>
              <a:ext cx="2145900" cy="720300"/>
            </a:xfrm>
            <a:prstGeom prst="chevron">
              <a:avLst>
                <a:gd name="adj" fmla="val 50000"/>
              </a:avLst>
            </a:prstGeom>
            <a:solidFill>
              <a:srgbClr val="92A3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Less Waste Pollution</a:t>
              </a:r>
              <a:endParaRPr b="1">
                <a:solidFill>
                  <a:schemeClr val="lt1"/>
                </a:solidFill>
              </a:endParaRPr>
            </a:p>
          </p:txBody>
        </p:sp>
        <p:sp>
          <p:nvSpPr>
            <p:cNvPr id="184" name="Google Shape;184;p22"/>
            <p:cNvSpPr txBox="1"/>
            <p:nvPr/>
          </p:nvSpPr>
          <p:spPr>
            <a:xfrm>
              <a:off x="6304325" y="2406175"/>
              <a:ext cx="1959300" cy="2476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100"/>
                </a:spcBef>
                <a:spcAft>
                  <a:spcPts val="0"/>
                </a:spcAft>
                <a:buClr>
                  <a:srgbClr val="595959"/>
                </a:buClr>
                <a:buSzPts val="1400"/>
                <a:buChar char="●"/>
              </a:pPr>
              <a:r>
                <a:rPr lang="en">
                  <a:solidFill>
                    <a:srgbClr val="595959"/>
                  </a:solidFill>
                </a:rPr>
                <a:t>Accurate sorting reduces contamination, improves recycling rates, and cuts environmental impact.</a:t>
              </a:r>
              <a:endParaRPr sz="1600">
                <a:solidFill>
                  <a:srgbClr val="595959"/>
                </a:solidFill>
              </a:endParaRPr>
            </a:p>
            <a:p>
              <a:pPr marL="0" lvl="0" indent="0" algn="l" rtl="0">
                <a:lnSpc>
                  <a:spcPct val="115000"/>
                </a:lnSpc>
                <a:spcBef>
                  <a:spcPts val="1100"/>
                </a:spcBef>
                <a:spcAft>
                  <a:spcPts val="0"/>
                </a:spcAft>
                <a:buNone/>
              </a:pPr>
              <a:endParaRPr sz="1600">
                <a:solidFill>
                  <a:srgbClr val="595959"/>
                </a:solidFill>
              </a:endParaRPr>
            </a:p>
            <a:p>
              <a:pPr marL="0" lvl="0" indent="0" algn="l" rtl="0">
                <a:lnSpc>
                  <a:spcPct val="115000"/>
                </a:lnSpc>
                <a:spcBef>
                  <a:spcPts val="0"/>
                </a:spcBef>
                <a:spcAft>
                  <a:spcPts val="0"/>
                </a:spcAft>
                <a:buNone/>
              </a:pPr>
              <a:endParaRPr sz="1600" b="1">
                <a:solidFill>
                  <a:srgbClr val="CC0000"/>
                </a:solidFill>
              </a:endParaRPr>
            </a:p>
            <a:p>
              <a:pPr marL="0" lvl="0" indent="0" algn="l" rtl="0">
                <a:lnSpc>
                  <a:spcPct val="115000"/>
                </a:lnSpc>
                <a:spcBef>
                  <a:spcPts val="0"/>
                </a:spcBef>
                <a:spcAft>
                  <a:spcPts val="0"/>
                </a:spcAft>
                <a:buNone/>
              </a:pPr>
              <a:endParaRPr sz="1600">
                <a:solidFill>
                  <a:srgbClr val="595959"/>
                </a:solidFill>
              </a:endParaRPr>
            </a:p>
            <a:p>
              <a:pPr marL="0" lvl="0" indent="0" algn="l" rtl="0">
                <a:spcBef>
                  <a:spcPts val="0"/>
                </a:spcBef>
                <a:spcAft>
                  <a:spcPts val="0"/>
                </a:spcAft>
                <a:buNone/>
              </a:pPr>
              <a:endParaRPr sz="1800">
                <a:solidFill>
                  <a:srgbClr val="595959"/>
                </a:solidFill>
              </a:endParaRPr>
            </a:p>
          </p:txBody>
        </p:sp>
      </p:grpSp>
      <p:sp>
        <p:nvSpPr>
          <p:cNvPr id="2" name="Google Shape;103;p19">
            <a:extLst>
              <a:ext uri="{FF2B5EF4-FFF2-40B4-BE49-F238E27FC236}">
                <a16:creationId xmlns:a16="http://schemas.microsoft.com/office/drawing/2014/main" id="{99B5FDB1-0FD8-0609-CA50-E26DE162ABDC}"/>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4</a:t>
            </a:fld>
            <a:endParaRPr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3"/>
          <p:cNvSpPr/>
          <p:nvPr/>
        </p:nvSpPr>
        <p:spPr>
          <a:xfrm>
            <a:off x="304600" y="2271287"/>
            <a:ext cx="2616600" cy="8499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3"/>
          <p:cNvSpPr/>
          <p:nvPr/>
        </p:nvSpPr>
        <p:spPr>
          <a:xfrm>
            <a:off x="297901" y="827569"/>
            <a:ext cx="2850000" cy="11664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23"/>
          <p:cNvSpPr/>
          <p:nvPr/>
        </p:nvSpPr>
        <p:spPr>
          <a:xfrm>
            <a:off x="6541775" y="853175"/>
            <a:ext cx="2360400" cy="28716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 name="Google Shape;192;p23"/>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End-to-End Pipeline</a:t>
            </a:r>
            <a:endParaRPr/>
          </a:p>
        </p:txBody>
      </p:sp>
      <p:sp>
        <p:nvSpPr>
          <p:cNvPr id="193" name="Google Shape;193;p23"/>
          <p:cNvSpPr txBox="1">
            <a:spLocks noGrp="1"/>
          </p:cNvSpPr>
          <p:nvPr>
            <p:ph type="body" idx="4294967295"/>
          </p:nvPr>
        </p:nvSpPr>
        <p:spPr>
          <a:xfrm>
            <a:off x="474025" y="791364"/>
            <a:ext cx="25656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TrashNet &amp; TrashBox</a:t>
            </a:r>
            <a:endParaRPr sz="2000" b="0">
              <a:solidFill>
                <a:srgbClr val="585858"/>
              </a:solidFill>
            </a:endParaRPr>
          </a:p>
        </p:txBody>
      </p:sp>
      <p:pic>
        <p:nvPicPr>
          <p:cNvPr id="194" name="Google Shape;194;p23"/>
          <p:cNvPicPr preferRelativeResize="0"/>
          <p:nvPr/>
        </p:nvPicPr>
        <p:blipFill>
          <a:blip r:embed="rId3">
            <a:alphaModFix/>
          </a:blip>
          <a:stretch>
            <a:fillRect/>
          </a:stretch>
        </p:blipFill>
        <p:spPr>
          <a:xfrm>
            <a:off x="6855064" y="3163209"/>
            <a:ext cx="765774" cy="430796"/>
          </a:xfrm>
          <a:prstGeom prst="rect">
            <a:avLst/>
          </a:prstGeom>
          <a:noFill/>
          <a:ln>
            <a:noFill/>
          </a:ln>
        </p:spPr>
      </p:pic>
      <p:sp>
        <p:nvSpPr>
          <p:cNvPr id="195" name="Google Shape;195;p23"/>
          <p:cNvSpPr txBox="1">
            <a:spLocks noGrp="1"/>
          </p:cNvSpPr>
          <p:nvPr>
            <p:ph type="body" idx="4294967295"/>
          </p:nvPr>
        </p:nvSpPr>
        <p:spPr>
          <a:xfrm>
            <a:off x="6531473" y="2655645"/>
            <a:ext cx="14130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Cardboard</a:t>
            </a:r>
            <a:endParaRPr sz="2000" b="0">
              <a:solidFill>
                <a:srgbClr val="585858"/>
              </a:solidFill>
            </a:endParaRPr>
          </a:p>
        </p:txBody>
      </p:sp>
      <p:pic>
        <p:nvPicPr>
          <p:cNvPr id="196" name="Google Shape;196;p23"/>
          <p:cNvPicPr preferRelativeResize="0"/>
          <p:nvPr/>
        </p:nvPicPr>
        <p:blipFill>
          <a:blip r:embed="rId4">
            <a:alphaModFix/>
          </a:blip>
          <a:stretch>
            <a:fillRect/>
          </a:stretch>
        </p:blipFill>
        <p:spPr>
          <a:xfrm>
            <a:off x="8024002" y="1294401"/>
            <a:ext cx="687524" cy="687499"/>
          </a:xfrm>
          <a:prstGeom prst="rect">
            <a:avLst/>
          </a:prstGeom>
          <a:noFill/>
          <a:ln>
            <a:noFill/>
          </a:ln>
        </p:spPr>
      </p:pic>
      <p:sp>
        <p:nvSpPr>
          <p:cNvPr id="197" name="Google Shape;197;p23"/>
          <p:cNvSpPr txBox="1">
            <a:spLocks noGrp="1"/>
          </p:cNvSpPr>
          <p:nvPr>
            <p:ph type="body" idx="4294967295"/>
          </p:nvPr>
        </p:nvSpPr>
        <p:spPr>
          <a:xfrm>
            <a:off x="7661282" y="754455"/>
            <a:ext cx="14130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Paper</a:t>
            </a:r>
            <a:endParaRPr sz="2000" b="0">
              <a:solidFill>
                <a:srgbClr val="585858"/>
              </a:solidFill>
            </a:endParaRPr>
          </a:p>
        </p:txBody>
      </p:sp>
      <p:pic>
        <p:nvPicPr>
          <p:cNvPr id="198" name="Google Shape;198;p23"/>
          <p:cNvPicPr preferRelativeResize="0"/>
          <p:nvPr/>
        </p:nvPicPr>
        <p:blipFill>
          <a:blip r:embed="rId5">
            <a:alphaModFix/>
          </a:blip>
          <a:stretch>
            <a:fillRect/>
          </a:stretch>
        </p:blipFill>
        <p:spPr>
          <a:xfrm>
            <a:off x="6901888" y="2166925"/>
            <a:ext cx="672175" cy="672175"/>
          </a:xfrm>
          <a:prstGeom prst="rect">
            <a:avLst/>
          </a:prstGeom>
          <a:noFill/>
          <a:ln>
            <a:noFill/>
          </a:ln>
        </p:spPr>
      </p:pic>
      <p:sp>
        <p:nvSpPr>
          <p:cNvPr id="199" name="Google Shape;199;p23"/>
          <p:cNvSpPr txBox="1">
            <a:spLocks noGrp="1"/>
          </p:cNvSpPr>
          <p:nvPr>
            <p:ph type="body" idx="4294967295"/>
          </p:nvPr>
        </p:nvSpPr>
        <p:spPr>
          <a:xfrm>
            <a:off x="6531473" y="1733785"/>
            <a:ext cx="14130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Glass</a:t>
            </a:r>
            <a:endParaRPr sz="2000" b="0">
              <a:solidFill>
                <a:srgbClr val="585858"/>
              </a:solidFill>
            </a:endParaRPr>
          </a:p>
        </p:txBody>
      </p:sp>
      <p:sp>
        <p:nvSpPr>
          <p:cNvPr id="200" name="Google Shape;200;p23"/>
          <p:cNvSpPr txBox="1">
            <a:spLocks noGrp="1"/>
          </p:cNvSpPr>
          <p:nvPr>
            <p:ph type="body" idx="4294967295"/>
          </p:nvPr>
        </p:nvSpPr>
        <p:spPr>
          <a:xfrm>
            <a:off x="7661294" y="1733788"/>
            <a:ext cx="14130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Metal</a:t>
            </a:r>
            <a:endParaRPr sz="2000" b="0">
              <a:solidFill>
                <a:srgbClr val="585858"/>
              </a:solidFill>
            </a:endParaRPr>
          </a:p>
        </p:txBody>
      </p:sp>
      <p:pic>
        <p:nvPicPr>
          <p:cNvPr id="201" name="Google Shape;201;p23"/>
          <p:cNvPicPr preferRelativeResize="0"/>
          <p:nvPr/>
        </p:nvPicPr>
        <p:blipFill>
          <a:blip r:embed="rId6">
            <a:alphaModFix/>
          </a:blip>
          <a:stretch>
            <a:fillRect/>
          </a:stretch>
        </p:blipFill>
        <p:spPr>
          <a:xfrm>
            <a:off x="8106359" y="2191888"/>
            <a:ext cx="522798" cy="672174"/>
          </a:xfrm>
          <a:prstGeom prst="rect">
            <a:avLst/>
          </a:prstGeom>
          <a:noFill/>
          <a:ln>
            <a:noFill/>
          </a:ln>
        </p:spPr>
      </p:pic>
      <p:pic>
        <p:nvPicPr>
          <p:cNvPr id="202" name="Google Shape;202;p23"/>
          <p:cNvPicPr preferRelativeResize="0"/>
          <p:nvPr/>
        </p:nvPicPr>
        <p:blipFill>
          <a:blip r:embed="rId7">
            <a:alphaModFix/>
          </a:blip>
          <a:stretch>
            <a:fillRect/>
          </a:stretch>
        </p:blipFill>
        <p:spPr>
          <a:xfrm>
            <a:off x="6976572" y="1235777"/>
            <a:ext cx="522800" cy="661288"/>
          </a:xfrm>
          <a:prstGeom prst="rect">
            <a:avLst/>
          </a:prstGeom>
          <a:noFill/>
          <a:ln>
            <a:noFill/>
          </a:ln>
        </p:spPr>
      </p:pic>
      <p:sp>
        <p:nvSpPr>
          <p:cNvPr id="203" name="Google Shape;203;p23"/>
          <p:cNvSpPr txBox="1">
            <a:spLocks noGrp="1"/>
          </p:cNvSpPr>
          <p:nvPr>
            <p:ph type="body" idx="4294967295"/>
          </p:nvPr>
        </p:nvSpPr>
        <p:spPr>
          <a:xfrm>
            <a:off x="6531473" y="754455"/>
            <a:ext cx="14130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Plastic</a:t>
            </a:r>
            <a:endParaRPr sz="2000" b="0" dirty="0">
              <a:solidFill>
                <a:srgbClr val="585858"/>
              </a:solidFill>
            </a:endParaRPr>
          </a:p>
        </p:txBody>
      </p:sp>
      <p:sp>
        <p:nvSpPr>
          <p:cNvPr id="204" name="Google Shape;204;p23"/>
          <p:cNvSpPr txBox="1">
            <a:spLocks noGrp="1"/>
          </p:cNvSpPr>
          <p:nvPr>
            <p:ph type="body" idx="4294967295"/>
          </p:nvPr>
        </p:nvSpPr>
        <p:spPr>
          <a:xfrm>
            <a:off x="7712000" y="2655655"/>
            <a:ext cx="13116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a:solidFill>
                  <a:srgbClr val="585858"/>
                </a:solidFill>
              </a:rPr>
              <a:t>Other</a:t>
            </a:r>
            <a:endParaRPr sz="2000" b="0">
              <a:solidFill>
                <a:srgbClr val="585858"/>
              </a:solidFill>
            </a:endParaRPr>
          </a:p>
        </p:txBody>
      </p:sp>
      <p:pic>
        <p:nvPicPr>
          <p:cNvPr id="205" name="Google Shape;205;p23"/>
          <p:cNvPicPr preferRelativeResize="0"/>
          <p:nvPr/>
        </p:nvPicPr>
        <p:blipFill>
          <a:blip r:embed="rId8">
            <a:alphaModFix/>
          </a:blip>
          <a:stretch>
            <a:fillRect/>
          </a:stretch>
        </p:blipFill>
        <p:spPr>
          <a:xfrm>
            <a:off x="8031725" y="3126555"/>
            <a:ext cx="672150" cy="504116"/>
          </a:xfrm>
          <a:prstGeom prst="rect">
            <a:avLst/>
          </a:prstGeom>
          <a:noFill/>
          <a:ln>
            <a:noFill/>
          </a:ln>
        </p:spPr>
      </p:pic>
      <p:sp>
        <p:nvSpPr>
          <p:cNvPr id="206" name="Google Shape;206;p23"/>
          <p:cNvSpPr/>
          <p:nvPr/>
        </p:nvSpPr>
        <p:spPr>
          <a:xfrm>
            <a:off x="3788296" y="1079106"/>
            <a:ext cx="2055900" cy="14757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txBox="1">
            <a:spLocks noGrp="1"/>
          </p:cNvSpPr>
          <p:nvPr>
            <p:ph type="body" idx="4294967295"/>
          </p:nvPr>
        </p:nvSpPr>
        <p:spPr>
          <a:xfrm>
            <a:off x="3543663" y="932419"/>
            <a:ext cx="2565600" cy="6612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YOLO Object Detection/Crop</a:t>
            </a:r>
            <a:endParaRPr sz="2000" b="0" dirty="0">
              <a:solidFill>
                <a:srgbClr val="585858"/>
              </a:solidFill>
            </a:endParaRPr>
          </a:p>
        </p:txBody>
      </p:sp>
      <p:sp>
        <p:nvSpPr>
          <p:cNvPr id="208" name="Google Shape;208;p23"/>
          <p:cNvSpPr/>
          <p:nvPr/>
        </p:nvSpPr>
        <p:spPr>
          <a:xfrm>
            <a:off x="4308946" y="1789856"/>
            <a:ext cx="1014600" cy="687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 name="Google Shape;209;p23"/>
          <p:cNvSpPr/>
          <p:nvPr/>
        </p:nvSpPr>
        <p:spPr>
          <a:xfrm>
            <a:off x="4463080" y="1902338"/>
            <a:ext cx="672000" cy="430800"/>
          </a:xfrm>
          <a:prstGeom prst="rect">
            <a:avLst/>
          </a:prstGeom>
          <a:noFill/>
          <a:ln w="38100" cap="flat" cmpd="sng">
            <a:solidFill>
              <a:srgbClr val="29E02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 name="Google Shape;210;p23"/>
          <p:cNvSpPr/>
          <p:nvPr/>
        </p:nvSpPr>
        <p:spPr>
          <a:xfrm>
            <a:off x="261975" y="3379525"/>
            <a:ext cx="2689800" cy="12498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3"/>
          <p:cNvSpPr txBox="1">
            <a:spLocks noGrp="1"/>
          </p:cNvSpPr>
          <p:nvPr>
            <p:ph type="body" idx="4294967295"/>
          </p:nvPr>
        </p:nvSpPr>
        <p:spPr>
          <a:xfrm>
            <a:off x="517750" y="3249980"/>
            <a:ext cx="2178300" cy="2994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Initial CNN model</a:t>
            </a:r>
            <a:endParaRPr sz="2000" b="0" dirty="0">
              <a:solidFill>
                <a:srgbClr val="585858"/>
              </a:solidFill>
            </a:endParaRPr>
          </a:p>
        </p:txBody>
      </p:sp>
      <p:sp>
        <p:nvSpPr>
          <p:cNvPr id="213" name="Google Shape;213;p23"/>
          <p:cNvSpPr/>
          <p:nvPr/>
        </p:nvSpPr>
        <p:spPr>
          <a:xfrm>
            <a:off x="6546875" y="4002113"/>
            <a:ext cx="2510700" cy="6876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3"/>
          <p:cNvSpPr txBox="1">
            <a:spLocks noGrp="1"/>
          </p:cNvSpPr>
          <p:nvPr>
            <p:ph type="body" idx="4294967295"/>
          </p:nvPr>
        </p:nvSpPr>
        <p:spPr>
          <a:xfrm>
            <a:off x="6546900" y="3877220"/>
            <a:ext cx="2565600" cy="6612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Live Video Feed</a:t>
            </a:r>
            <a:endParaRPr sz="2000" b="0" dirty="0">
              <a:solidFill>
                <a:srgbClr val="585858"/>
              </a:solidFill>
            </a:endParaRPr>
          </a:p>
        </p:txBody>
      </p:sp>
      <p:pic>
        <p:nvPicPr>
          <p:cNvPr id="215" name="Google Shape;215;p23"/>
          <p:cNvPicPr preferRelativeResize="0"/>
          <p:nvPr/>
        </p:nvPicPr>
        <p:blipFill>
          <a:blip r:embed="rId9">
            <a:alphaModFix/>
          </a:blip>
          <a:stretch>
            <a:fillRect/>
          </a:stretch>
        </p:blipFill>
        <p:spPr>
          <a:xfrm>
            <a:off x="7294913" y="4211215"/>
            <a:ext cx="1014600" cy="554859"/>
          </a:xfrm>
          <a:prstGeom prst="rect">
            <a:avLst/>
          </a:prstGeom>
          <a:noFill/>
          <a:ln>
            <a:noFill/>
          </a:ln>
        </p:spPr>
      </p:pic>
      <p:sp>
        <p:nvSpPr>
          <p:cNvPr id="216" name="Google Shape;216;p23"/>
          <p:cNvSpPr/>
          <p:nvPr/>
        </p:nvSpPr>
        <p:spPr>
          <a:xfrm>
            <a:off x="598150" y="2773692"/>
            <a:ext cx="1433700" cy="243000"/>
          </a:xfrm>
          <a:prstGeom prst="rect">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 name="Google Shape;217;p23"/>
          <p:cNvSpPr/>
          <p:nvPr/>
        </p:nvSpPr>
        <p:spPr>
          <a:xfrm>
            <a:off x="2031850" y="2771924"/>
            <a:ext cx="308100" cy="243000"/>
          </a:xfrm>
          <a:prstGeom prst="rect">
            <a:avLst/>
          </a:prstGeom>
          <a:solidFill>
            <a:srgbClr val="FFD9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23"/>
          <p:cNvSpPr/>
          <p:nvPr/>
        </p:nvSpPr>
        <p:spPr>
          <a:xfrm>
            <a:off x="2335825" y="2772714"/>
            <a:ext cx="308100" cy="243000"/>
          </a:xfrm>
          <a:prstGeom prst="rect">
            <a:avLst/>
          </a:prstGeom>
          <a:solidFill>
            <a:srgbClr val="E0666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23"/>
          <p:cNvSpPr txBox="1">
            <a:spLocks noGrp="1"/>
          </p:cNvSpPr>
          <p:nvPr>
            <p:ph type="body" idx="4294967295"/>
          </p:nvPr>
        </p:nvSpPr>
        <p:spPr>
          <a:xfrm>
            <a:off x="487950" y="2214376"/>
            <a:ext cx="2292300" cy="381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Split Train/Val/Test</a:t>
            </a:r>
            <a:endParaRPr sz="2000" b="0" dirty="0">
              <a:solidFill>
                <a:srgbClr val="585858"/>
              </a:solidFill>
            </a:endParaRPr>
          </a:p>
        </p:txBody>
      </p:sp>
      <p:pic>
        <p:nvPicPr>
          <p:cNvPr id="220" name="Google Shape;220;p23"/>
          <p:cNvPicPr preferRelativeResize="0"/>
          <p:nvPr/>
        </p:nvPicPr>
        <p:blipFill>
          <a:blip r:embed="rId10">
            <a:alphaModFix/>
          </a:blip>
          <a:stretch>
            <a:fillRect/>
          </a:stretch>
        </p:blipFill>
        <p:spPr>
          <a:xfrm>
            <a:off x="1541263" y="1548176"/>
            <a:ext cx="430800" cy="430800"/>
          </a:xfrm>
          <a:prstGeom prst="rect">
            <a:avLst/>
          </a:prstGeom>
          <a:noFill/>
          <a:ln>
            <a:noFill/>
          </a:ln>
        </p:spPr>
      </p:pic>
      <p:sp>
        <p:nvSpPr>
          <p:cNvPr id="221" name="Google Shape;221;p23"/>
          <p:cNvSpPr txBox="1">
            <a:spLocks noGrp="1"/>
          </p:cNvSpPr>
          <p:nvPr>
            <p:ph type="body" idx="4294967295"/>
          </p:nvPr>
        </p:nvSpPr>
        <p:spPr>
          <a:xfrm>
            <a:off x="282176" y="1094914"/>
            <a:ext cx="2850000" cy="2994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Preprocessing</a:t>
            </a:r>
            <a:endParaRPr sz="2000" b="0" dirty="0">
              <a:solidFill>
                <a:srgbClr val="585858"/>
              </a:solidFill>
            </a:endParaRPr>
          </a:p>
        </p:txBody>
      </p:sp>
      <p:sp>
        <p:nvSpPr>
          <p:cNvPr id="222" name="Google Shape;222;p23"/>
          <p:cNvSpPr/>
          <p:nvPr/>
        </p:nvSpPr>
        <p:spPr>
          <a:xfrm>
            <a:off x="3590813" y="972343"/>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223" name="Google Shape;223;p23"/>
          <p:cNvSpPr/>
          <p:nvPr/>
        </p:nvSpPr>
        <p:spPr>
          <a:xfrm>
            <a:off x="104546" y="723244"/>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24" name="Google Shape;224;p23"/>
          <p:cNvSpPr/>
          <p:nvPr/>
        </p:nvSpPr>
        <p:spPr>
          <a:xfrm>
            <a:off x="104550" y="2097312"/>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225" name="Google Shape;225;p23"/>
          <p:cNvSpPr/>
          <p:nvPr/>
        </p:nvSpPr>
        <p:spPr>
          <a:xfrm>
            <a:off x="104538" y="3224525"/>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26" name="Google Shape;226;p23"/>
          <p:cNvSpPr/>
          <p:nvPr/>
        </p:nvSpPr>
        <p:spPr>
          <a:xfrm>
            <a:off x="6331438" y="3827333"/>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sp>
        <p:nvSpPr>
          <p:cNvPr id="227" name="Google Shape;227;p23"/>
          <p:cNvSpPr/>
          <p:nvPr/>
        </p:nvSpPr>
        <p:spPr>
          <a:xfrm>
            <a:off x="6390100" y="736782"/>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pic>
        <p:nvPicPr>
          <p:cNvPr id="228" name="Google Shape;228;p23"/>
          <p:cNvPicPr preferRelativeResize="0"/>
          <p:nvPr/>
        </p:nvPicPr>
        <p:blipFill>
          <a:blip r:embed="rId3">
            <a:alphaModFix/>
          </a:blip>
          <a:stretch>
            <a:fillRect/>
          </a:stretch>
        </p:blipFill>
        <p:spPr>
          <a:xfrm>
            <a:off x="4522818" y="1953142"/>
            <a:ext cx="565802" cy="318302"/>
          </a:xfrm>
          <a:prstGeom prst="rect">
            <a:avLst/>
          </a:prstGeom>
          <a:noFill/>
          <a:ln>
            <a:noFill/>
          </a:ln>
        </p:spPr>
      </p:pic>
      <p:pic>
        <p:nvPicPr>
          <p:cNvPr id="229" name="Google Shape;229;p23"/>
          <p:cNvPicPr preferRelativeResize="0"/>
          <p:nvPr/>
        </p:nvPicPr>
        <p:blipFill>
          <a:blip r:embed="rId11">
            <a:alphaModFix/>
          </a:blip>
          <a:stretch>
            <a:fillRect/>
          </a:stretch>
        </p:blipFill>
        <p:spPr>
          <a:xfrm>
            <a:off x="1177022" y="3731188"/>
            <a:ext cx="849900" cy="849900"/>
          </a:xfrm>
          <a:prstGeom prst="rect">
            <a:avLst/>
          </a:prstGeom>
          <a:noFill/>
          <a:ln>
            <a:noFill/>
          </a:ln>
        </p:spPr>
      </p:pic>
      <p:sp>
        <p:nvSpPr>
          <p:cNvPr id="230" name="Google Shape;230;p23"/>
          <p:cNvSpPr/>
          <p:nvPr/>
        </p:nvSpPr>
        <p:spPr>
          <a:xfrm>
            <a:off x="3472756" y="3082925"/>
            <a:ext cx="2689800" cy="1249800"/>
          </a:xfrm>
          <a:prstGeom prst="roundRect">
            <a:avLst>
              <a:gd name="adj" fmla="val 16667"/>
            </a:avLst>
          </a:prstGeom>
          <a:solidFill>
            <a:srgbClr val="CFE2F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3"/>
          <p:cNvSpPr txBox="1">
            <a:spLocks noGrp="1"/>
          </p:cNvSpPr>
          <p:nvPr>
            <p:ph type="body" idx="4294967295"/>
          </p:nvPr>
        </p:nvSpPr>
        <p:spPr>
          <a:xfrm>
            <a:off x="3728531" y="2953381"/>
            <a:ext cx="2178300" cy="2994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2000" b="0" dirty="0">
                <a:solidFill>
                  <a:srgbClr val="585858"/>
                </a:solidFill>
              </a:rPr>
              <a:t>Tuned CNN model</a:t>
            </a:r>
            <a:endParaRPr sz="2000" b="0" dirty="0">
              <a:solidFill>
                <a:srgbClr val="585858"/>
              </a:solidFill>
            </a:endParaRPr>
          </a:p>
        </p:txBody>
      </p:sp>
      <p:sp>
        <p:nvSpPr>
          <p:cNvPr id="232" name="Google Shape;232;p23"/>
          <p:cNvSpPr/>
          <p:nvPr/>
        </p:nvSpPr>
        <p:spPr>
          <a:xfrm>
            <a:off x="3315318" y="2927925"/>
            <a:ext cx="383400" cy="381900"/>
          </a:xfrm>
          <a:prstGeom prst="ellipse">
            <a:avLst/>
          </a:prstGeom>
          <a:solidFill>
            <a:schemeClr val="lt2"/>
          </a:solidFill>
          <a:ln w="9525" cap="flat" cmpd="sng">
            <a:solidFill>
              <a:schemeClr val="dk2"/>
            </a:solidFill>
            <a:prstDash val="solid"/>
            <a:round/>
            <a:headEnd type="none" w="sm" len="sm"/>
            <a:tailEnd type="none" w="sm" len="sm"/>
          </a:ln>
          <a:effectLst>
            <a:outerShdw blurRad="57150" dist="19050" dir="2154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pic>
        <p:nvPicPr>
          <p:cNvPr id="233" name="Google Shape;233;p23"/>
          <p:cNvPicPr preferRelativeResize="0"/>
          <p:nvPr/>
        </p:nvPicPr>
        <p:blipFill>
          <a:blip r:embed="rId11">
            <a:alphaModFix/>
          </a:blip>
          <a:stretch>
            <a:fillRect/>
          </a:stretch>
        </p:blipFill>
        <p:spPr>
          <a:xfrm>
            <a:off x="4654543" y="3426962"/>
            <a:ext cx="849900" cy="849900"/>
          </a:xfrm>
          <a:prstGeom prst="rect">
            <a:avLst/>
          </a:prstGeom>
          <a:noFill/>
          <a:ln>
            <a:noFill/>
          </a:ln>
        </p:spPr>
      </p:pic>
      <p:pic>
        <p:nvPicPr>
          <p:cNvPr id="234" name="Google Shape;234;p23"/>
          <p:cNvPicPr preferRelativeResize="0"/>
          <p:nvPr/>
        </p:nvPicPr>
        <p:blipFill>
          <a:blip r:embed="rId12">
            <a:alphaModFix/>
          </a:blip>
          <a:stretch>
            <a:fillRect/>
          </a:stretch>
        </p:blipFill>
        <p:spPr>
          <a:xfrm rot="1662985">
            <a:off x="4095504" y="3526747"/>
            <a:ext cx="522800" cy="522800"/>
          </a:xfrm>
          <a:prstGeom prst="rect">
            <a:avLst/>
          </a:prstGeom>
          <a:noFill/>
          <a:ln>
            <a:noFill/>
          </a:ln>
        </p:spPr>
      </p:pic>
      <p:cxnSp>
        <p:nvCxnSpPr>
          <p:cNvPr id="235" name="Google Shape;235;p23"/>
          <p:cNvCxnSpPr>
            <a:stCxn id="189" idx="3"/>
            <a:endCxn id="206" idx="1"/>
          </p:cNvCxnSpPr>
          <p:nvPr/>
        </p:nvCxnSpPr>
        <p:spPr>
          <a:xfrm rot="10800000" flipH="1">
            <a:off x="2921200" y="1816937"/>
            <a:ext cx="867000" cy="879300"/>
          </a:xfrm>
          <a:prstGeom prst="bentConnector3">
            <a:avLst>
              <a:gd name="adj1" fmla="val 50006"/>
            </a:avLst>
          </a:prstGeom>
          <a:noFill/>
          <a:ln w="9525" cap="flat" cmpd="sng">
            <a:solidFill>
              <a:schemeClr val="dk2"/>
            </a:solidFill>
            <a:prstDash val="solid"/>
            <a:round/>
            <a:headEnd type="none" w="med" len="med"/>
            <a:tailEnd type="stealth" w="med" len="med"/>
          </a:ln>
        </p:spPr>
      </p:cxnSp>
      <p:cxnSp>
        <p:nvCxnSpPr>
          <p:cNvPr id="236" name="Google Shape;236;p23"/>
          <p:cNvCxnSpPr>
            <a:stCxn id="206" idx="2"/>
            <a:endCxn id="230" idx="0"/>
          </p:cNvCxnSpPr>
          <p:nvPr/>
        </p:nvCxnSpPr>
        <p:spPr>
          <a:xfrm>
            <a:off x="4816246" y="2554806"/>
            <a:ext cx="1500" cy="528000"/>
          </a:xfrm>
          <a:prstGeom prst="straightConnector1">
            <a:avLst/>
          </a:prstGeom>
          <a:noFill/>
          <a:ln w="9525" cap="flat" cmpd="sng">
            <a:solidFill>
              <a:schemeClr val="dk2"/>
            </a:solidFill>
            <a:prstDash val="solid"/>
            <a:round/>
            <a:headEnd type="none" w="med" len="med"/>
            <a:tailEnd type="triangle" w="med" len="med"/>
          </a:ln>
        </p:spPr>
      </p:cxnSp>
      <p:cxnSp>
        <p:nvCxnSpPr>
          <p:cNvPr id="237" name="Google Shape;237;p23"/>
          <p:cNvCxnSpPr>
            <a:stCxn id="210" idx="3"/>
            <a:endCxn id="230" idx="1"/>
          </p:cNvCxnSpPr>
          <p:nvPr/>
        </p:nvCxnSpPr>
        <p:spPr>
          <a:xfrm rot="10800000" flipH="1">
            <a:off x="2951775" y="3707725"/>
            <a:ext cx="521100" cy="296700"/>
          </a:xfrm>
          <a:prstGeom prst="bentConnector3">
            <a:avLst>
              <a:gd name="adj1" fmla="val 49989"/>
            </a:avLst>
          </a:prstGeom>
          <a:noFill/>
          <a:ln w="9525" cap="flat" cmpd="sng">
            <a:solidFill>
              <a:schemeClr val="dk2"/>
            </a:solidFill>
            <a:prstDash val="solid"/>
            <a:round/>
            <a:headEnd type="none" w="med" len="med"/>
            <a:tailEnd type="stealth" w="med" len="med"/>
          </a:ln>
        </p:spPr>
      </p:cxnSp>
      <p:cxnSp>
        <p:nvCxnSpPr>
          <p:cNvPr id="238" name="Google Shape;238;p23"/>
          <p:cNvCxnSpPr>
            <a:stCxn id="189" idx="2"/>
            <a:endCxn id="210" idx="0"/>
          </p:cNvCxnSpPr>
          <p:nvPr/>
        </p:nvCxnSpPr>
        <p:spPr>
          <a:xfrm flipH="1">
            <a:off x="1606900" y="3121187"/>
            <a:ext cx="6000" cy="258300"/>
          </a:xfrm>
          <a:prstGeom prst="straightConnector1">
            <a:avLst/>
          </a:prstGeom>
          <a:noFill/>
          <a:ln w="9525" cap="flat" cmpd="sng">
            <a:solidFill>
              <a:schemeClr val="dk2"/>
            </a:solidFill>
            <a:prstDash val="solid"/>
            <a:round/>
            <a:headEnd type="none" w="med" len="med"/>
            <a:tailEnd type="triangle" w="med" len="med"/>
          </a:ln>
        </p:spPr>
      </p:cxnSp>
      <p:cxnSp>
        <p:nvCxnSpPr>
          <p:cNvPr id="239" name="Google Shape;239;p23"/>
          <p:cNvCxnSpPr/>
          <p:nvPr/>
        </p:nvCxnSpPr>
        <p:spPr>
          <a:xfrm flipH="1">
            <a:off x="1701575" y="2003487"/>
            <a:ext cx="6000" cy="258300"/>
          </a:xfrm>
          <a:prstGeom prst="straightConnector1">
            <a:avLst/>
          </a:prstGeom>
          <a:noFill/>
          <a:ln w="9525" cap="flat" cmpd="sng">
            <a:solidFill>
              <a:schemeClr val="dk2"/>
            </a:solidFill>
            <a:prstDash val="solid"/>
            <a:round/>
            <a:headEnd type="none" w="med" len="med"/>
            <a:tailEnd type="triangle" w="med" len="med"/>
          </a:ln>
        </p:spPr>
      </p:cxnSp>
      <p:cxnSp>
        <p:nvCxnSpPr>
          <p:cNvPr id="240" name="Google Shape;240;p23"/>
          <p:cNvCxnSpPr>
            <a:stCxn id="230" idx="3"/>
            <a:endCxn id="199" idx="1"/>
          </p:cNvCxnSpPr>
          <p:nvPr/>
        </p:nvCxnSpPr>
        <p:spPr>
          <a:xfrm flipV="1">
            <a:off x="6162556" y="1924735"/>
            <a:ext cx="368917" cy="1783090"/>
          </a:xfrm>
          <a:prstGeom prst="bentConnector3">
            <a:avLst>
              <a:gd name="adj1" fmla="val 50000"/>
            </a:avLst>
          </a:prstGeom>
          <a:noFill/>
          <a:ln w="9525" cap="flat" cmpd="sng">
            <a:solidFill>
              <a:schemeClr val="dk2"/>
            </a:solidFill>
            <a:prstDash val="solid"/>
            <a:round/>
            <a:headEnd type="none" w="med" len="med"/>
            <a:tailEnd type="stealth" w="med" len="med"/>
          </a:ln>
        </p:spPr>
      </p:cxnSp>
      <p:sp>
        <p:nvSpPr>
          <p:cNvPr id="2" name="Google Shape;103;p19">
            <a:extLst>
              <a:ext uri="{FF2B5EF4-FFF2-40B4-BE49-F238E27FC236}">
                <a16:creationId xmlns:a16="http://schemas.microsoft.com/office/drawing/2014/main" id="{4E2E23F4-8049-E33A-37F4-BDCF2841C913}"/>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5</a:t>
            </a:fld>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3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9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9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9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9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9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9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0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02"/>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0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04"/>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0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2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1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1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1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4"/>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Demonstration</a:t>
            </a:r>
            <a:endParaRPr/>
          </a:p>
        </p:txBody>
      </p:sp>
      <p:sp>
        <p:nvSpPr>
          <p:cNvPr id="247" name="Google Shape;247;p24"/>
          <p:cNvSpPr/>
          <p:nvPr/>
        </p:nvSpPr>
        <p:spPr>
          <a:xfrm>
            <a:off x="1496950" y="1584750"/>
            <a:ext cx="6472500" cy="197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350">
                <a:solidFill>
                  <a:schemeClr val="dk1"/>
                </a:solidFill>
              </a:rPr>
              <a:t>Demonstration (at least 1.0 min): You will need to show a demonstration of</a:t>
            </a:r>
            <a:endParaRPr sz="1350">
              <a:solidFill>
                <a:schemeClr val="dk1"/>
              </a:solidFill>
            </a:endParaRPr>
          </a:p>
          <a:p>
            <a:pPr marL="0" lvl="0" indent="0" algn="l" rtl="0">
              <a:spcBef>
                <a:spcPts val="0"/>
              </a:spcBef>
              <a:spcAft>
                <a:spcPts val="0"/>
              </a:spcAft>
              <a:buNone/>
            </a:pPr>
            <a:r>
              <a:rPr lang="en" sz="1350">
                <a:solidFill>
                  <a:schemeClr val="dk1"/>
                </a:solidFill>
              </a:rPr>
              <a:t>your project evaluated on new, never before seen data. Try to be creative and</a:t>
            </a:r>
            <a:endParaRPr sz="1350">
              <a:solidFill>
                <a:schemeClr val="dk1"/>
              </a:solidFill>
            </a:endParaRPr>
          </a:p>
          <a:p>
            <a:pPr marL="0" lvl="0" indent="0" algn="l" rtl="0">
              <a:spcBef>
                <a:spcPts val="0"/>
              </a:spcBef>
              <a:spcAft>
                <a:spcPts val="0"/>
              </a:spcAft>
              <a:buNone/>
            </a:pPr>
            <a:r>
              <a:rPr lang="en" sz="1350">
                <a:solidFill>
                  <a:schemeClr val="dk1"/>
                </a:solidFill>
              </a:rPr>
              <a:t>engaging with the demonstration. For example, if you are doing an image</a:t>
            </a:r>
            <a:endParaRPr sz="1350">
              <a:solidFill>
                <a:schemeClr val="dk1"/>
              </a:solidFill>
            </a:endParaRPr>
          </a:p>
          <a:p>
            <a:pPr marL="0" lvl="0" indent="0" algn="l" rtl="0">
              <a:spcBef>
                <a:spcPts val="0"/>
              </a:spcBef>
              <a:spcAft>
                <a:spcPts val="0"/>
              </a:spcAft>
              <a:buNone/>
            </a:pPr>
            <a:r>
              <a:rPr lang="en" sz="1350">
                <a:solidFill>
                  <a:schemeClr val="dk1"/>
                </a:solidFill>
              </a:rPr>
              <a:t>classification task, you could record a video (or find one on YouTube) and feed</a:t>
            </a:r>
            <a:endParaRPr sz="1350">
              <a:solidFill>
                <a:schemeClr val="dk1"/>
              </a:solidFill>
            </a:endParaRPr>
          </a:p>
          <a:p>
            <a:pPr marL="0" lvl="0" indent="0" algn="l" rtl="0">
              <a:spcBef>
                <a:spcPts val="0"/>
              </a:spcBef>
              <a:spcAft>
                <a:spcPts val="0"/>
              </a:spcAft>
              <a:buNone/>
            </a:pPr>
            <a:r>
              <a:rPr lang="en" sz="1350">
                <a:solidFill>
                  <a:schemeClr val="dk1"/>
                </a:solidFill>
              </a:rPr>
              <a:t>the frames of the video to your model to make predictions. Process the result and</a:t>
            </a:r>
            <a:endParaRPr sz="1350">
              <a:solidFill>
                <a:schemeClr val="dk1"/>
              </a:solidFill>
            </a:endParaRPr>
          </a:p>
          <a:p>
            <a:pPr marL="0" lvl="0" indent="0" algn="l" rtl="0">
              <a:spcBef>
                <a:spcPts val="0"/>
              </a:spcBef>
              <a:spcAft>
                <a:spcPts val="0"/>
              </a:spcAft>
              <a:buClr>
                <a:schemeClr val="dk1"/>
              </a:buClr>
              <a:buSzPts val="1100"/>
              <a:buFont typeface="Arial"/>
              <a:buNone/>
            </a:pPr>
            <a:r>
              <a:rPr lang="en" sz="1350">
                <a:solidFill>
                  <a:schemeClr val="dk1"/>
                </a:solidFill>
              </a:rPr>
              <a:t>play the video back as your demonstration.</a:t>
            </a:r>
            <a:endParaRPr sz="1350">
              <a:solidFill>
                <a:schemeClr val="dk1"/>
              </a:solidFill>
            </a:endParaRPr>
          </a:p>
        </p:txBody>
      </p:sp>
      <p:sp>
        <p:nvSpPr>
          <p:cNvPr id="2" name="Google Shape;103;p19">
            <a:extLst>
              <a:ext uri="{FF2B5EF4-FFF2-40B4-BE49-F238E27FC236}">
                <a16:creationId xmlns:a16="http://schemas.microsoft.com/office/drawing/2014/main" id="{84C9BB91-2E0E-A81C-63D8-31025EBE26D2}"/>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6</a:t>
            </a:fld>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5"/>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0" lvl="0" indent="0" algn="l" rtl="0">
              <a:lnSpc>
                <a:spcPct val="100000"/>
              </a:lnSpc>
              <a:spcBef>
                <a:spcPts val="0"/>
              </a:spcBef>
              <a:spcAft>
                <a:spcPts val="0"/>
              </a:spcAft>
              <a:buNone/>
            </a:pPr>
            <a:r>
              <a:rPr lang="en"/>
              <a:t>Quantitative Results: Train &amp; Validation Curves</a:t>
            </a:r>
            <a:endParaRPr/>
          </a:p>
        </p:txBody>
      </p:sp>
      <p:pic>
        <p:nvPicPr>
          <p:cNvPr id="254" name="Google Shape;254;p25"/>
          <p:cNvPicPr preferRelativeResize="0"/>
          <p:nvPr/>
        </p:nvPicPr>
        <p:blipFill>
          <a:blip r:embed="rId5">
            <a:alphaModFix/>
          </a:blip>
          <a:stretch>
            <a:fillRect/>
          </a:stretch>
        </p:blipFill>
        <p:spPr>
          <a:xfrm>
            <a:off x="1224375" y="674248"/>
            <a:ext cx="6695251" cy="4110949"/>
          </a:xfrm>
          <a:prstGeom prst="rect">
            <a:avLst/>
          </a:prstGeom>
          <a:noFill/>
          <a:ln>
            <a:noFill/>
          </a:ln>
        </p:spPr>
      </p:pic>
      <p:sp>
        <p:nvSpPr>
          <p:cNvPr id="2" name="Google Shape;103;p19">
            <a:extLst>
              <a:ext uri="{FF2B5EF4-FFF2-40B4-BE49-F238E27FC236}">
                <a16:creationId xmlns:a16="http://schemas.microsoft.com/office/drawing/2014/main" id="{554A7A50-5022-B1AD-795F-F2E404294928}"/>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7</a:t>
            </a:fld>
            <a:endParaRPr sz="1200" dirty="0"/>
          </a:p>
        </p:txBody>
      </p:sp>
      <p:pic>
        <p:nvPicPr>
          <p:cNvPr id="200" name="Audio 199">
            <a:hlinkClick r:id="" action="ppaction://media"/>
            <a:extLst>
              <a:ext uri="{FF2B5EF4-FFF2-40B4-BE49-F238E27FC236}">
                <a16:creationId xmlns:a16="http://schemas.microsoft.com/office/drawing/2014/main" id="{1462A243-DCF0-2274-4894-23E9856404A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08306" t="-108306" r="-108306" b="-108306"/>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2583"/>
    </mc:Choice>
    <mc:Fallback xmlns="">
      <p:transition spd="slow" advTm="225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0"/>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6"/>
          <p:cNvPicPr preferRelativeResize="0"/>
          <p:nvPr/>
        </p:nvPicPr>
        <p:blipFill rotWithShape="1">
          <a:blip r:embed="rId5">
            <a:alphaModFix/>
          </a:blip>
          <a:srcRect l="3185" t="4966" b="4568"/>
          <a:stretch/>
        </p:blipFill>
        <p:spPr>
          <a:xfrm>
            <a:off x="4097550" y="799750"/>
            <a:ext cx="4527324" cy="3388925"/>
          </a:xfrm>
          <a:prstGeom prst="rect">
            <a:avLst/>
          </a:prstGeom>
          <a:noFill/>
          <a:ln>
            <a:noFill/>
          </a:ln>
        </p:spPr>
      </p:pic>
      <p:sp>
        <p:nvSpPr>
          <p:cNvPr id="260" name="Google Shape;260;p26"/>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0" lvl="0" indent="0" algn="l" rtl="0">
              <a:lnSpc>
                <a:spcPct val="100000"/>
              </a:lnSpc>
              <a:spcBef>
                <a:spcPts val="0"/>
              </a:spcBef>
              <a:spcAft>
                <a:spcPts val="0"/>
              </a:spcAft>
              <a:buNone/>
            </a:pPr>
            <a:r>
              <a:rPr lang="en"/>
              <a:t>Quantitative Results: Test Metrics</a:t>
            </a:r>
            <a:endParaRPr/>
          </a:p>
        </p:txBody>
      </p:sp>
      <p:sp>
        <p:nvSpPr>
          <p:cNvPr id="262" name="Google Shape;262;p26"/>
          <p:cNvSpPr/>
          <p:nvPr/>
        </p:nvSpPr>
        <p:spPr>
          <a:xfrm>
            <a:off x="677273" y="2996641"/>
            <a:ext cx="1625037" cy="1305831"/>
          </a:xfrm>
          <a:prstGeom prst="rect">
            <a:avLst/>
          </a:prstGeom>
        </p:spPr>
        <p:txBody>
          <a:bodyPr>
            <a:prstTxWarp prst="textPlain">
              <a:avLst/>
            </a:prstTxWarp>
          </a:bodyPr>
          <a:lstStyle/>
          <a:p>
            <a:pPr lvl="0" algn="ctr"/>
            <a:r>
              <a:rPr b="0" i="0">
                <a:ln w="3400" cap="flat" cmpd="sng">
                  <a:solidFill>
                    <a:srgbClr val="002E64"/>
                  </a:solidFill>
                  <a:prstDash val="solid"/>
                  <a:round/>
                  <a:headEnd type="none" w="sm" len="sm"/>
                  <a:tailEnd type="none" w="sm" len="sm"/>
                </a:ln>
                <a:solidFill>
                  <a:srgbClr val="002E65"/>
                </a:solidFill>
                <a:latin typeface="Impact"/>
              </a:rPr>
              <a:t>0.82</a:t>
            </a:r>
          </a:p>
        </p:txBody>
      </p:sp>
      <p:sp>
        <p:nvSpPr>
          <p:cNvPr id="263" name="Google Shape;263;p26"/>
          <p:cNvSpPr/>
          <p:nvPr/>
        </p:nvSpPr>
        <p:spPr>
          <a:xfrm>
            <a:off x="2364534" y="3015253"/>
            <a:ext cx="439722" cy="1268612"/>
          </a:xfrm>
          <a:prstGeom prst="rect">
            <a:avLst/>
          </a:prstGeom>
        </p:spPr>
        <p:txBody>
          <a:bodyPr>
            <a:prstTxWarp prst="textPlain">
              <a:avLst/>
            </a:prstTxWarp>
          </a:bodyPr>
          <a:lstStyle/>
          <a:p>
            <a:pPr lvl="0" algn="ctr"/>
            <a:r>
              <a:rPr b="0" i="0">
                <a:ln w="3400" cap="flat" cmpd="sng">
                  <a:solidFill>
                    <a:srgbClr val="002E64"/>
                  </a:solidFill>
                  <a:prstDash val="solid"/>
                  <a:round/>
                  <a:headEnd type="none" w="sm" len="sm"/>
                  <a:tailEnd type="none" w="sm" len="sm"/>
                </a:ln>
                <a:solidFill>
                  <a:srgbClr val="002E65"/>
                </a:solidFill>
                <a:latin typeface="Impact"/>
              </a:rPr>
              <a:t>F1</a:t>
            </a:r>
          </a:p>
        </p:txBody>
      </p:sp>
      <p:sp>
        <p:nvSpPr>
          <p:cNvPr id="264" name="Google Shape;264;p26"/>
          <p:cNvSpPr/>
          <p:nvPr/>
        </p:nvSpPr>
        <p:spPr>
          <a:xfrm>
            <a:off x="677305" y="995314"/>
            <a:ext cx="1501358" cy="1390507"/>
          </a:xfrm>
          <a:prstGeom prst="rect">
            <a:avLst/>
          </a:prstGeom>
        </p:spPr>
        <p:txBody>
          <a:bodyPr>
            <a:prstTxWarp prst="textPlain">
              <a:avLst/>
            </a:prstTxWarp>
          </a:bodyPr>
          <a:lstStyle/>
          <a:p>
            <a:pPr lvl="0" algn="ctr"/>
            <a:r>
              <a:rPr b="0" i="0" dirty="0">
                <a:ln w="4200" cap="flat" cmpd="sng">
                  <a:solidFill>
                    <a:srgbClr val="002E64"/>
                  </a:solidFill>
                  <a:prstDash val="solid"/>
                  <a:round/>
                  <a:headEnd type="none" w="sm" len="sm"/>
                  <a:tailEnd type="none" w="sm" len="sm"/>
                </a:ln>
                <a:solidFill>
                  <a:srgbClr val="002E65"/>
                </a:solidFill>
                <a:latin typeface="Impact"/>
              </a:rPr>
              <a:t>82</a:t>
            </a:r>
          </a:p>
        </p:txBody>
      </p:sp>
      <p:sp>
        <p:nvSpPr>
          <p:cNvPr id="265" name="Google Shape;265;p26"/>
          <p:cNvSpPr/>
          <p:nvPr/>
        </p:nvSpPr>
        <p:spPr>
          <a:xfrm>
            <a:off x="677300" y="2462413"/>
            <a:ext cx="2126923" cy="381900"/>
          </a:xfrm>
          <a:prstGeom prst="rect">
            <a:avLst/>
          </a:prstGeom>
        </p:spPr>
        <p:txBody>
          <a:bodyPr>
            <a:prstTxWarp prst="textPlain">
              <a:avLst/>
            </a:prstTxWarp>
          </a:bodyPr>
          <a:lstStyle/>
          <a:p>
            <a:pPr lvl="0" algn="ctr"/>
            <a:r>
              <a:rPr b="0" i="0">
                <a:ln w="4200" cap="flat" cmpd="sng">
                  <a:solidFill>
                    <a:srgbClr val="002E64"/>
                  </a:solidFill>
                  <a:prstDash val="solid"/>
                  <a:round/>
                  <a:headEnd type="none" w="sm" len="sm"/>
                  <a:tailEnd type="none" w="sm" len="sm"/>
                </a:ln>
                <a:solidFill>
                  <a:srgbClr val="002E65"/>
                </a:solidFill>
                <a:latin typeface="Impact"/>
              </a:rPr>
              <a:t>Accuracy</a:t>
            </a:r>
          </a:p>
        </p:txBody>
      </p:sp>
      <p:sp>
        <p:nvSpPr>
          <p:cNvPr id="266" name="Google Shape;266;p26"/>
          <p:cNvSpPr/>
          <p:nvPr/>
        </p:nvSpPr>
        <p:spPr>
          <a:xfrm>
            <a:off x="2238425" y="995313"/>
            <a:ext cx="565799" cy="1390526"/>
          </a:xfrm>
          <a:prstGeom prst="rect">
            <a:avLst/>
          </a:prstGeom>
        </p:spPr>
        <p:txBody>
          <a:bodyPr>
            <a:prstTxWarp prst="textPlain">
              <a:avLst/>
            </a:prstTxWarp>
          </a:bodyPr>
          <a:lstStyle/>
          <a:p>
            <a:pPr lvl="0" algn="ctr"/>
            <a:r>
              <a:rPr b="0" i="0" dirty="0">
                <a:ln w="4200" cap="flat" cmpd="sng">
                  <a:solidFill>
                    <a:srgbClr val="002E64"/>
                  </a:solidFill>
                  <a:prstDash val="solid"/>
                  <a:round/>
                  <a:headEnd type="none" w="sm" len="sm"/>
                  <a:tailEnd type="none" w="sm" len="sm"/>
                </a:ln>
                <a:solidFill>
                  <a:srgbClr val="002E65"/>
                </a:solidFill>
                <a:latin typeface="Impact"/>
              </a:rPr>
              <a:t>%</a:t>
            </a:r>
          </a:p>
        </p:txBody>
      </p:sp>
      <p:sp>
        <p:nvSpPr>
          <p:cNvPr id="267" name="Google Shape;267;p26"/>
          <p:cNvSpPr txBox="1">
            <a:spLocks noGrp="1"/>
          </p:cNvSpPr>
          <p:nvPr>
            <p:ph type="body" idx="4294967295"/>
          </p:nvPr>
        </p:nvSpPr>
        <p:spPr>
          <a:xfrm>
            <a:off x="5695745" y="4351367"/>
            <a:ext cx="1296900" cy="234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dirty="0">
                <a:solidFill>
                  <a:schemeClr val="dk1"/>
                </a:solidFill>
              </a:rPr>
              <a:t>Predicted</a:t>
            </a:r>
            <a:endParaRPr sz="1600" b="0" dirty="0">
              <a:solidFill>
                <a:schemeClr val="dk1"/>
              </a:solidFill>
            </a:endParaRPr>
          </a:p>
        </p:txBody>
      </p:sp>
      <p:grpSp>
        <p:nvGrpSpPr>
          <p:cNvPr id="268" name="Google Shape;268;p26"/>
          <p:cNvGrpSpPr/>
          <p:nvPr/>
        </p:nvGrpSpPr>
        <p:grpSpPr>
          <a:xfrm>
            <a:off x="3725576" y="880717"/>
            <a:ext cx="4115919" cy="3662224"/>
            <a:chOff x="3809051" y="949229"/>
            <a:chExt cx="4115919" cy="3662224"/>
          </a:xfrm>
        </p:grpSpPr>
        <p:pic>
          <p:nvPicPr>
            <p:cNvPr id="269" name="Google Shape;269;p26"/>
            <p:cNvPicPr preferRelativeResize="0"/>
            <p:nvPr/>
          </p:nvPicPr>
          <p:blipFill>
            <a:blip r:embed="rId6">
              <a:alphaModFix/>
            </a:blip>
            <a:stretch>
              <a:fillRect/>
            </a:stretch>
          </p:blipFill>
          <p:spPr>
            <a:xfrm rot="5400000">
              <a:off x="3794231" y="1040550"/>
              <a:ext cx="417531" cy="234889"/>
            </a:xfrm>
            <a:prstGeom prst="rect">
              <a:avLst/>
            </a:prstGeom>
            <a:noFill/>
            <a:ln>
              <a:noFill/>
            </a:ln>
          </p:spPr>
        </p:pic>
        <p:pic>
          <p:nvPicPr>
            <p:cNvPr id="270" name="Google Shape;270;p26"/>
            <p:cNvPicPr preferRelativeResize="0"/>
            <p:nvPr/>
          </p:nvPicPr>
          <p:blipFill>
            <a:blip r:embed="rId7">
              <a:alphaModFix/>
            </a:blip>
            <a:stretch>
              <a:fillRect/>
            </a:stretch>
          </p:blipFill>
          <p:spPr>
            <a:xfrm>
              <a:off x="3815568" y="3132965"/>
              <a:ext cx="374867" cy="374855"/>
            </a:xfrm>
            <a:prstGeom prst="rect">
              <a:avLst/>
            </a:prstGeom>
            <a:noFill/>
            <a:ln>
              <a:noFill/>
            </a:ln>
          </p:spPr>
        </p:pic>
        <p:pic>
          <p:nvPicPr>
            <p:cNvPr id="271" name="Google Shape;271;p26"/>
            <p:cNvPicPr preferRelativeResize="0"/>
            <p:nvPr/>
          </p:nvPicPr>
          <p:blipFill>
            <a:blip r:embed="rId8">
              <a:alphaModFix/>
            </a:blip>
            <a:stretch>
              <a:fillRect/>
            </a:stretch>
          </p:blipFill>
          <p:spPr>
            <a:xfrm>
              <a:off x="3819758" y="1523508"/>
              <a:ext cx="366499" cy="366499"/>
            </a:xfrm>
            <a:prstGeom prst="rect">
              <a:avLst/>
            </a:prstGeom>
            <a:noFill/>
            <a:ln>
              <a:noFill/>
            </a:ln>
          </p:spPr>
        </p:pic>
        <p:pic>
          <p:nvPicPr>
            <p:cNvPr id="272" name="Google Shape;272;p26"/>
            <p:cNvPicPr preferRelativeResize="0"/>
            <p:nvPr/>
          </p:nvPicPr>
          <p:blipFill>
            <a:blip r:embed="rId9">
              <a:alphaModFix/>
            </a:blip>
            <a:stretch>
              <a:fillRect/>
            </a:stretch>
          </p:blipFill>
          <p:spPr>
            <a:xfrm>
              <a:off x="3879010" y="2046749"/>
              <a:ext cx="285052" cy="366499"/>
            </a:xfrm>
            <a:prstGeom prst="rect">
              <a:avLst/>
            </a:prstGeom>
            <a:noFill/>
            <a:ln>
              <a:noFill/>
            </a:ln>
          </p:spPr>
        </p:pic>
        <p:pic>
          <p:nvPicPr>
            <p:cNvPr id="273" name="Google Shape;273;p26"/>
            <p:cNvPicPr preferRelativeResize="0"/>
            <p:nvPr/>
          </p:nvPicPr>
          <p:blipFill>
            <a:blip r:embed="rId10">
              <a:alphaModFix/>
            </a:blip>
            <a:stretch>
              <a:fillRect/>
            </a:stretch>
          </p:blipFill>
          <p:spPr>
            <a:xfrm>
              <a:off x="3953917" y="3659250"/>
              <a:ext cx="285053" cy="360562"/>
            </a:xfrm>
            <a:prstGeom prst="rect">
              <a:avLst/>
            </a:prstGeom>
            <a:noFill/>
            <a:ln>
              <a:noFill/>
            </a:ln>
          </p:spPr>
        </p:pic>
        <p:pic>
          <p:nvPicPr>
            <p:cNvPr id="274" name="Google Shape;274;p26"/>
            <p:cNvPicPr preferRelativeResize="0"/>
            <p:nvPr/>
          </p:nvPicPr>
          <p:blipFill>
            <a:blip r:embed="rId11">
              <a:alphaModFix/>
            </a:blip>
            <a:stretch>
              <a:fillRect/>
            </a:stretch>
          </p:blipFill>
          <p:spPr>
            <a:xfrm>
              <a:off x="3809051" y="2603272"/>
              <a:ext cx="366486" cy="274866"/>
            </a:xfrm>
            <a:prstGeom prst="rect">
              <a:avLst/>
            </a:prstGeom>
            <a:noFill/>
            <a:ln>
              <a:noFill/>
            </a:ln>
          </p:spPr>
        </p:pic>
        <p:pic>
          <p:nvPicPr>
            <p:cNvPr id="275" name="Google Shape;275;p26"/>
            <p:cNvPicPr preferRelativeResize="0"/>
            <p:nvPr/>
          </p:nvPicPr>
          <p:blipFill>
            <a:blip r:embed="rId6">
              <a:alphaModFix/>
            </a:blip>
            <a:stretch>
              <a:fillRect/>
            </a:stretch>
          </p:blipFill>
          <p:spPr>
            <a:xfrm>
              <a:off x="4449658" y="4260216"/>
              <a:ext cx="417531" cy="234889"/>
            </a:xfrm>
            <a:prstGeom prst="rect">
              <a:avLst/>
            </a:prstGeom>
            <a:noFill/>
            <a:ln>
              <a:noFill/>
            </a:ln>
          </p:spPr>
        </p:pic>
        <p:pic>
          <p:nvPicPr>
            <p:cNvPr id="276" name="Google Shape;276;p26"/>
            <p:cNvPicPr preferRelativeResize="0"/>
            <p:nvPr/>
          </p:nvPicPr>
          <p:blipFill>
            <a:blip r:embed="rId7">
              <a:alphaModFix/>
            </a:blip>
            <a:stretch>
              <a:fillRect/>
            </a:stretch>
          </p:blipFill>
          <p:spPr>
            <a:xfrm>
              <a:off x="6966449" y="4222326"/>
              <a:ext cx="374867" cy="374855"/>
            </a:xfrm>
            <a:prstGeom prst="rect">
              <a:avLst/>
            </a:prstGeom>
            <a:noFill/>
            <a:ln>
              <a:noFill/>
            </a:ln>
          </p:spPr>
        </p:pic>
        <p:pic>
          <p:nvPicPr>
            <p:cNvPr id="277" name="Google Shape;277;p26"/>
            <p:cNvPicPr preferRelativeResize="0"/>
            <p:nvPr/>
          </p:nvPicPr>
          <p:blipFill>
            <a:blip r:embed="rId8">
              <a:alphaModFix/>
            </a:blip>
            <a:stretch>
              <a:fillRect/>
            </a:stretch>
          </p:blipFill>
          <p:spPr>
            <a:xfrm>
              <a:off x="5147054" y="4194421"/>
              <a:ext cx="366499" cy="366499"/>
            </a:xfrm>
            <a:prstGeom prst="rect">
              <a:avLst/>
            </a:prstGeom>
            <a:noFill/>
            <a:ln>
              <a:noFill/>
            </a:ln>
          </p:spPr>
        </p:pic>
        <p:pic>
          <p:nvPicPr>
            <p:cNvPr id="278" name="Google Shape;278;p26"/>
            <p:cNvPicPr preferRelativeResize="0"/>
            <p:nvPr/>
          </p:nvPicPr>
          <p:blipFill>
            <a:blip r:embed="rId9">
              <a:alphaModFix/>
            </a:blip>
            <a:stretch>
              <a:fillRect/>
            </a:stretch>
          </p:blipFill>
          <p:spPr>
            <a:xfrm>
              <a:off x="5769366" y="4215816"/>
              <a:ext cx="285052" cy="366499"/>
            </a:xfrm>
            <a:prstGeom prst="rect">
              <a:avLst/>
            </a:prstGeom>
            <a:noFill/>
            <a:ln>
              <a:noFill/>
            </a:ln>
          </p:spPr>
        </p:pic>
        <p:pic>
          <p:nvPicPr>
            <p:cNvPr id="279" name="Google Shape;279;p26"/>
            <p:cNvPicPr preferRelativeResize="0"/>
            <p:nvPr/>
          </p:nvPicPr>
          <p:blipFill>
            <a:blip r:embed="rId10">
              <a:alphaModFix/>
            </a:blip>
            <a:stretch>
              <a:fillRect/>
            </a:stretch>
          </p:blipFill>
          <p:spPr>
            <a:xfrm>
              <a:off x="7639918" y="4250891"/>
              <a:ext cx="285053" cy="360562"/>
            </a:xfrm>
            <a:prstGeom prst="rect">
              <a:avLst/>
            </a:prstGeom>
            <a:noFill/>
            <a:ln>
              <a:noFill/>
            </a:ln>
          </p:spPr>
        </p:pic>
        <p:pic>
          <p:nvPicPr>
            <p:cNvPr id="280" name="Google Shape;280;p26"/>
            <p:cNvPicPr preferRelativeResize="0"/>
            <p:nvPr/>
          </p:nvPicPr>
          <p:blipFill>
            <a:blip r:embed="rId11">
              <a:alphaModFix/>
            </a:blip>
            <a:stretch>
              <a:fillRect/>
            </a:stretch>
          </p:blipFill>
          <p:spPr>
            <a:xfrm>
              <a:off x="6355584" y="4236960"/>
              <a:ext cx="366486" cy="274866"/>
            </a:xfrm>
            <a:prstGeom prst="rect">
              <a:avLst/>
            </a:prstGeom>
            <a:noFill/>
            <a:ln>
              <a:noFill/>
            </a:ln>
          </p:spPr>
        </p:pic>
      </p:grpSp>
      <p:sp>
        <p:nvSpPr>
          <p:cNvPr id="281" name="Google Shape;281;p26"/>
          <p:cNvSpPr txBox="1">
            <a:spLocks noGrp="1"/>
          </p:cNvSpPr>
          <p:nvPr>
            <p:ph type="body" idx="4294967295"/>
          </p:nvPr>
        </p:nvSpPr>
        <p:spPr>
          <a:xfrm rot="-5400000">
            <a:off x="2764856" y="2417310"/>
            <a:ext cx="1296900" cy="2349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dirty="0">
                <a:solidFill>
                  <a:schemeClr val="dk1"/>
                </a:solidFill>
              </a:rPr>
              <a:t>True</a:t>
            </a:r>
            <a:endParaRPr sz="1600" b="0" dirty="0">
              <a:solidFill>
                <a:schemeClr val="dk1"/>
              </a:solidFill>
            </a:endParaRPr>
          </a:p>
        </p:txBody>
      </p:sp>
      <p:sp>
        <p:nvSpPr>
          <p:cNvPr id="282" name="Google Shape;282;p26"/>
          <p:cNvSpPr/>
          <p:nvPr/>
        </p:nvSpPr>
        <p:spPr>
          <a:xfrm>
            <a:off x="3731565" y="1340025"/>
            <a:ext cx="4212000" cy="532200"/>
          </a:xfrm>
          <a:prstGeom prst="rect">
            <a:avLst/>
          </a:prstGeom>
          <a:noFill/>
          <a:ln w="1905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6"/>
          <p:cNvSpPr/>
          <p:nvPr/>
        </p:nvSpPr>
        <p:spPr>
          <a:xfrm>
            <a:off x="3731575" y="1871775"/>
            <a:ext cx="4212000" cy="532200"/>
          </a:xfrm>
          <a:prstGeom prst="rect">
            <a:avLst/>
          </a:prstGeom>
          <a:noFill/>
          <a:ln w="1905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6"/>
          <p:cNvSpPr/>
          <p:nvPr/>
        </p:nvSpPr>
        <p:spPr>
          <a:xfrm>
            <a:off x="3731575" y="2957625"/>
            <a:ext cx="4212000" cy="532200"/>
          </a:xfrm>
          <a:prstGeom prst="rect">
            <a:avLst/>
          </a:prstGeom>
          <a:noFill/>
          <a:ln w="1905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6"/>
          <p:cNvSpPr/>
          <p:nvPr/>
        </p:nvSpPr>
        <p:spPr>
          <a:xfrm>
            <a:off x="3729775" y="3489903"/>
            <a:ext cx="4212000" cy="532200"/>
          </a:xfrm>
          <a:prstGeom prst="rect">
            <a:avLst/>
          </a:prstGeom>
          <a:noFill/>
          <a:ln w="1905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103;p19">
            <a:extLst>
              <a:ext uri="{FF2B5EF4-FFF2-40B4-BE49-F238E27FC236}">
                <a16:creationId xmlns:a16="http://schemas.microsoft.com/office/drawing/2014/main" id="{99D9331E-B4A2-BD4D-3C03-E9C05939B7DD}"/>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8</a:t>
            </a:fld>
            <a:endParaRPr sz="1200" dirty="0"/>
          </a:p>
        </p:txBody>
      </p:sp>
      <p:pic>
        <p:nvPicPr>
          <p:cNvPr id="46" name="Audio 45">
            <a:hlinkClick r:id="" action="ppaction://media"/>
            <a:extLst>
              <a:ext uri="{FF2B5EF4-FFF2-40B4-BE49-F238E27FC236}">
                <a16:creationId xmlns:a16="http://schemas.microsoft.com/office/drawing/2014/main" id="{1352FF7E-5994-0DB5-B865-F28104CBA6ED}"/>
              </a:ext>
            </a:extLst>
          </p:cNvPr>
          <p:cNvPicPr>
            <a:picLocks noChangeAspect="1"/>
          </p:cNvPicPr>
          <p:nvPr>
            <a:audioFile r:link="rId2"/>
            <p:extLst>
              <p:ext uri="{DAA4B4D4-6D71-4841-9C94-3DE7FCFB9230}">
                <p14:media xmlns:p14="http://schemas.microsoft.com/office/powerpoint/2010/main" r:embed="rId1"/>
              </p:ext>
            </p:extLst>
          </p:nvPr>
        </p:nvPicPr>
        <p:blipFill>
          <a:blip r:embed="rId12"/>
          <a:srcRect l="-108306" t="-108306" r="-108306" b="-108306"/>
          <a:stretch>
            <a:fillRect/>
          </a:stretch>
        </p:blipFill>
        <p:spPr>
          <a:xfrm>
            <a:off x="7539228" y="3538728"/>
            <a:ext cx="1543050" cy="154305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31351"/>
    </mc:Choice>
    <mc:Fallback>
      <p:transition spd="slow" advTm="31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8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4"/>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82"/>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283"/>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5" fill="hold" display="0">
                  <p:stCondLst>
                    <p:cond delay="indefinite"/>
                  </p:stCondLst>
                  <p:endCondLst>
                    <p:cond evt="onStopAudio" delay="0">
                      <p:tgtEl>
                        <p:sldTgt/>
                      </p:tgtEl>
                    </p:cond>
                  </p:endCondLst>
                </p:cTn>
                <p:tgtEl>
                  <p:spTgt spid="4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27"/>
          <p:cNvSpPr/>
          <p:nvPr/>
        </p:nvSpPr>
        <p:spPr>
          <a:xfrm>
            <a:off x="147173" y="826250"/>
            <a:ext cx="4367100" cy="3777600"/>
          </a:xfrm>
          <a:prstGeom prst="roundRect">
            <a:avLst>
              <a:gd name="adj" fmla="val 16667"/>
            </a:avLst>
          </a:prstGeom>
          <a:solidFill>
            <a:srgbClr val="D9EAD3"/>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1" name="Google Shape;291;p27"/>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0" lvl="0" indent="0" algn="l" rtl="0">
              <a:lnSpc>
                <a:spcPct val="100000"/>
              </a:lnSpc>
              <a:spcBef>
                <a:spcPts val="0"/>
              </a:spcBef>
              <a:spcAft>
                <a:spcPts val="0"/>
              </a:spcAft>
              <a:buNone/>
            </a:pPr>
            <a:r>
              <a:rPr lang="en"/>
              <a:t>Qualitative Results</a:t>
            </a:r>
            <a:endParaRPr/>
          </a:p>
        </p:txBody>
      </p:sp>
      <p:pic>
        <p:nvPicPr>
          <p:cNvPr id="293" name="Google Shape;293;p27"/>
          <p:cNvPicPr preferRelativeResize="0"/>
          <p:nvPr/>
        </p:nvPicPr>
        <p:blipFill rotWithShape="1">
          <a:blip r:embed="rId6">
            <a:alphaModFix/>
          </a:blip>
          <a:srcRect l="3964" r="4894" b="3081"/>
          <a:stretch/>
        </p:blipFill>
        <p:spPr>
          <a:xfrm>
            <a:off x="381803" y="2324786"/>
            <a:ext cx="972850" cy="1794065"/>
          </a:xfrm>
          <a:prstGeom prst="rect">
            <a:avLst/>
          </a:prstGeom>
          <a:noFill/>
          <a:ln>
            <a:noFill/>
          </a:ln>
        </p:spPr>
      </p:pic>
      <p:pic>
        <p:nvPicPr>
          <p:cNvPr id="294" name="Google Shape;294;p27"/>
          <p:cNvPicPr preferRelativeResize="0"/>
          <p:nvPr/>
        </p:nvPicPr>
        <p:blipFill rotWithShape="1">
          <a:blip r:embed="rId7">
            <a:alphaModFix/>
          </a:blip>
          <a:srcRect l="4990" r="4610" b="3081"/>
          <a:stretch/>
        </p:blipFill>
        <p:spPr>
          <a:xfrm>
            <a:off x="3435276" y="2658272"/>
            <a:ext cx="824800" cy="1682453"/>
          </a:xfrm>
          <a:prstGeom prst="rect">
            <a:avLst/>
          </a:prstGeom>
          <a:noFill/>
          <a:ln>
            <a:noFill/>
          </a:ln>
        </p:spPr>
      </p:pic>
      <p:pic>
        <p:nvPicPr>
          <p:cNvPr id="295" name="Google Shape;295;p27"/>
          <p:cNvPicPr preferRelativeResize="0"/>
          <p:nvPr/>
        </p:nvPicPr>
        <p:blipFill rotWithShape="1">
          <a:blip r:embed="rId8">
            <a:alphaModFix/>
          </a:blip>
          <a:srcRect l="6257" r="4726" b="3081"/>
          <a:stretch/>
        </p:blipFill>
        <p:spPr>
          <a:xfrm>
            <a:off x="1793390" y="1230901"/>
            <a:ext cx="1203150" cy="1682450"/>
          </a:xfrm>
          <a:prstGeom prst="rect">
            <a:avLst/>
          </a:prstGeom>
          <a:noFill/>
          <a:ln>
            <a:noFill/>
          </a:ln>
        </p:spPr>
      </p:pic>
      <p:sp>
        <p:nvSpPr>
          <p:cNvPr id="296" name="Google Shape;296;p27"/>
          <p:cNvSpPr/>
          <p:nvPr/>
        </p:nvSpPr>
        <p:spPr>
          <a:xfrm>
            <a:off x="4661468" y="822275"/>
            <a:ext cx="4367100" cy="3777600"/>
          </a:xfrm>
          <a:prstGeom prst="roundRect">
            <a:avLst>
              <a:gd name="adj" fmla="val 16667"/>
            </a:avLst>
          </a:prstGeom>
          <a:solidFill>
            <a:srgbClr val="F4CCCC"/>
          </a:solidFill>
          <a:ln w="952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27"/>
          <p:cNvSpPr txBox="1">
            <a:spLocks noGrp="1"/>
          </p:cNvSpPr>
          <p:nvPr>
            <p:ph type="body" idx="4294967295"/>
          </p:nvPr>
        </p:nvSpPr>
        <p:spPr>
          <a:xfrm>
            <a:off x="1073425" y="738591"/>
            <a:ext cx="2514600" cy="2616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dirty="0">
                <a:solidFill>
                  <a:srgbClr val="38761D"/>
                </a:solidFill>
              </a:rPr>
              <a:t>Correct Classifications</a:t>
            </a:r>
            <a:endParaRPr sz="1600" dirty="0">
              <a:solidFill>
                <a:srgbClr val="38761D"/>
              </a:solidFill>
            </a:endParaRPr>
          </a:p>
        </p:txBody>
      </p:sp>
      <p:sp>
        <p:nvSpPr>
          <p:cNvPr id="298" name="Google Shape;298;p27"/>
          <p:cNvSpPr txBox="1">
            <a:spLocks noGrp="1"/>
          </p:cNvSpPr>
          <p:nvPr>
            <p:ph type="body" idx="4294967295"/>
          </p:nvPr>
        </p:nvSpPr>
        <p:spPr>
          <a:xfrm>
            <a:off x="5555975" y="728745"/>
            <a:ext cx="2514600" cy="2616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dirty="0">
                <a:solidFill>
                  <a:srgbClr val="CC0000"/>
                </a:solidFill>
              </a:rPr>
              <a:t>Incorrect Classifications</a:t>
            </a:r>
            <a:endParaRPr sz="1600" dirty="0">
              <a:solidFill>
                <a:srgbClr val="CC0000"/>
              </a:solidFill>
            </a:endParaRPr>
          </a:p>
        </p:txBody>
      </p:sp>
      <p:pic>
        <p:nvPicPr>
          <p:cNvPr id="299" name="Google Shape;299;p27" title="Screenshot 2025-11-23 at 6.42.52 PM.png"/>
          <p:cNvPicPr preferRelativeResize="0"/>
          <p:nvPr/>
        </p:nvPicPr>
        <p:blipFill rotWithShape="1">
          <a:blip r:embed="rId9">
            <a:alphaModFix/>
          </a:blip>
          <a:srcRect b="1806"/>
          <a:stretch/>
        </p:blipFill>
        <p:spPr>
          <a:xfrm>
            <a:off x="2254425" y="2839556"/>
            <a:ext cx="1108000" cy="1569319"/>
          </a:xfrm>
          <a:prstGeom prst="rect">
            <a:avLst/>
          </a:prstGeom>
          <a:noFill/>
          <a:ln>
            <a:noFill/>
          </a:ln>
        </p:spPr>
      </p:pic>
      <p:pic>
        <p:nvPicPr>
          <p:cNvPr id="300" name="Google Shape;300;p27" title="Screenshot 2025-11-23 at 8.17.23 PM.png"/>
          <p:cNvPicPr preferRelativeResize="0"/>
          <p:nvPr/>
        </p:nvPicPr>
        <p:blipFill rotWithShape="1">
          <a:blip r:embed="rId10">
            <a:alphaModFix/>
          </a:blip>
          <a:srcRect l="4014" r="3048" b="2286"/>
          <a:stretch/>
        </p:blipFill>
        <p:spPr>
          <a:xfrm>
            <a:off x="5019261" y="1313500"/>
            <a:ext cx="1639177" cy="2974025"/>
          </a:xfrm>
          <a:prstGeom prst="rect">
            <a:avLst/>
          </a:prstGeom>
          <a:noFill/>
          <a:ln>
            <a:noFill/>
          </a:ln>
        </p:spPr>
      </p:pic>
      <p:pic>
        <p:nvPicPr>
          <p:cNvPr id="301" name="Google Shape;301;p27" title="Screenshot 2025-11-23 at 8.18.12 PM.png"/>
          <p:cNvPicPr preferRelativeResize="0"/>
          <p:nvPr/>
        </p:nvPicPr>
        <p:blipFill rotWithShape="1">
          <a:blip r:embed="rId11">
            <a:alphaModFix/>
          </a:blip>
          <a:srcRect b="2733"/>
          <a:stretch/>
        </p:blipFill>
        <p:spPr>
          <a:xfrm>
            <a:off x="1376714" y="2915710"/>
            <a:ext cx="824800" cy="1501175"/>
          </a:xfrm>
          <a:prstGeom prst="rect">
            <a:avLst/>
          </a:prstGeom>
          <a:noFill/>
          <a:ln>
            <a:noFill/>
          </a:ln>
        </p:spPr>
      </p:pic>
      <p:pic>
        <p:nvPicPr>
          <p:cNvPr id="302" name="Google Shape;302;p27" title="Screenshot 2025-11-23 at 8.17.02 PM.png"/>
          <p:cNvPicPr preferRelativeResize="0"/>
          <p:nvPr/>
        </p:nvPicPr>
        <p:blipFill>
          <a:blip r:embed="rId12">
            <a:alphaModFix/>
          </a:blip>
          <a:stretch>
            <a:fillRect/>
          </a:stretch>
        </p:blipFill>
        <p:spPr>
          <a:xfrm>
            <a:off x="749485" y="1272125"/>
            <a:ext cx="938083" cy="1543297"/>
          </a:xfrm>
          <a:prstGeom prst="rect">
            <a:avLst/>
          </a:prstGeom>
          <a:noFill/>
          <a:ln>
            <a:noFill/>
          </a:ln>
        </p:spPr>
      </p:pic>
      <p:pic>
        <p:nvPicPr>
          <p:cNvPr id="303" name="Google Shape;303;p27" title="Screenshot 2025-11-23 at 8.17.51 PM.png"/>
          <p:cNvPicPr preferRelativeResize="0"/>
          <p:nvPr/>
        </p:nvPicPr>
        <p:blipFill rotWithShape="1">
          <a:blip r:embed="rId13">
            <a:alphaModFix/>
          </a:blip>
          <a:srcRect l="5007" r="4272" b="20363"/>
          <a:stretch/>
        </p:blipFill>
        <p:spPr>
          <a:xfrm>
            <a:off x="3152078" y="1313488"/>
            <a:ext cx="1108000" cy="1229000"/>
          </a:xfrm>
          <a:prstGeom prst="rect">
            <a:avLst/>
          </a:prstGeom>
          <a:noFill/>
          <a:ln>
            <a:noFill/>
          </a:ln>
        </p:spPr>
      </p:pic>
      <p:pic>
        <p:nvPicPr>
          <p:cNvPr id="304" name="Google Shape;304;p27" title="Screenshot 2025-11-23 at 8.16.32 PM.png"/>
          <p:cNvPicPr preferRelativeResize="0"/>
          <p:nvPr/>
        </p:nvPicPr>
        <p:blipFill rotWithShape="1">
          <a:blip r:embed="rId14">
            <a:alphaModFix/>
          </a:blip>
          <a:srcRect l="6110" r="5464" b="2229"/>
          <a:stretch/>
        </p:blipFill>
        <p:spPr>
          <a:xfrm>
            <a:off x="7010175" y="1313500"/>
            <a:ext cx="1605000" cy="2974025"/>
          </a:xfrm>
          <a:prstGeom prst="rect">
            <a:avLst/>
          </a:prstGeom>
          <a:noFill/>
          <a:ln>
            <a:noFill/>
          </a:ln>
        </p:spPr>
      </p:pic>
      <p:sp>
        <p:nvSpPr>
          <p:cNvPr id="2" name="Google Shape;103;p19">
            <a:extLst>
              <a:ext uri="{FF2B5EF4-FFF2-40B4-BE49-F238E27FC236}">
                <a16:creationId xmlns:a16="http://schemas.microsoft.com/office/drawing/2014/main" id="{70186226-F7FB-A9CA-C800-7905C86C321D}"/>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9</a:t>
            </a:fld>
            <a:endParaRPr sz="1200" dirty="0"/>
          </a:p>
        </p:txBody>
      </p:sp>
      <p:pic>
        <p:nvPicPr>
          <p:cNvPr id="60" name="Audio 59">
            <a:hlinkClick r:id="" action="ppaction://media"/>
            <a:extLst>
              <a:ext uri="{FF2B5EF4-FFF2-40B4-BE49-F238E27FC236}">
                <a16:creationId xmlns:a16="http://schemas.microsoft.com/office/drawing/2014/main" id="{898C354E-BAE3-EF3E-9F46-451099EA9E3C}"/>
              </a:ext>
            </a:extLst>
          </p:cNvPr>
          <p:cNvPicPr>
            <a:picLocks noChangeAspect="1"/>
          </p:cNvPicPr>
          <p:nvPr>
            <a:audioFile r:link="rId3"/>
            <p:extLst>
              <p:ext uri="{DAA4B4D4-6D71-4841-9C94-3DE7FCFB9230}">
                <p14:media xmlns:p14="http://schemas.microsoft.com/office/powerpoint/2010/main" r:embed="rId2"/>
              </p:ext>
            </p:extLst>
          </p:nvPr>
        </p:nvPicPr>
        <p:blipFill>
          <a:blip r:embed="rId15"/>
          <a:srcRect l="-108306" t="-108306" r="-108306" b="-108306"/>
          <a:stretch>
            <a:fillRect/>
          </a:stretch>
        </p:blipFill>
        <p:spPr>
          <a:xfrm>
            <a:off x="7539228" y="3538728"/>
            <a:ext cx="1543050" cy="1543050"/>
          </a:xfrm>
          <a:prstGeom prst="ellipse">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5060"/>
    </mc:Choice>
    <mc:Fallback>
      <p:transition spd="slow" advTm="15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3" fill="hold" display="0">
                  <p:stCondLst>
                    <p:cond delay="indefinite"/>
                  </p:stCondLst>
                  <p:endCondLst>
                    <p:cond evt="onStopAudio" delay="0">
                      <p:tgtEl>
                        <p:sldTgt/>
                      </p:tgtEl>
                    </p:cond>
                  </p:endCondLst>
                </p:cTn>
                <p:tgtEl>
                  <p:spTgt spid="6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8"/>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What we Learned</a:t>
            </a:r>
            <a:endParaRPr/>
          </a:p>
        </p:txBody>
      </p:sp>
      <p:grpSp>
        <p:nvGrpSpPr>
          <p:cNvPr id="311" name="Google Shape;311;p28"/>
          <p:cNvGrpSpPr/>
          <p:nvPr/>
        </p:nvGrpSpPr>
        <p:grpSpPr>
          <a:xfrm>
            <a:off x="465950" y="948713"/>
            <a:ext cx="1135200" cy="1078800"/>
            <a:chOff x="2092850" y="883625"/>
            <a:chExt cx="1135200" cy="1078800"/>
          </a:xfrm>
        </p:grpSpPr>
        <p:sp>
          <p:nvSpPr>
            <p:cNvPr id="312" name="Google Shape;312;p28"/>
            <p:cNvSpPr/>
            <p:nvPr/>
          </p:nvSpPr>
          <p:spPr>
            <a:xfrm>
              <a:off x="2092850" y="883625"/>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3" name="Google Shape;313;p28"/>
            <p:cNvPicPr preferRelativeResize="0"/>
            <p:nvPr/>
          </p:nvPicPr>
          <p:blipFill>
            <a:blip r:embed="rId3">
              <a:alphaModFix/>
            </a:blip>
            <a:stretch>
              <a:fillRect/>
            </a:stretch>
          </p:blipFill>
          <p:spPr>
            <a:xfrm>
              <a:off x="2317777" y="1057400"/>
              <a:ext cx="731250" cy="731250"/>
            </a:xfrm>
            <a:prstGeom prst="rect">
              <a:avLst/>
            </a:prstGeom>
            <a:noFill/>
            <a:ln>
              <a:noFill/>
            </a:ln>
          </p:spPr>
        </p:pic>
      </p:grpSp>
      <p:grpSp>
        <p:nvGrpSpPr>
          <p:cNvPr id="314" name="Google Shape;314;p28"/>
          <p:cNvGrpSpPr/>
          <p:nvPr/>
        </p:nvGrpSpPr>
        <p:grpSpPr>
          <a:xfrm>
            <a:off x="494500" y="3361013"/>
            <a:ext cx="1135200" cy="1078800"/>
            <a:chOff x="3695925" y="1629525"/>
            <a:chExt cx="1135200" cy="1078800"/>
          </a:xfrm>
        </p:grpSpPr>
        <p:pic>
          <p:nvPicPr>
            <p:cNvPr id="315" name="Google Shape;315;p28"/>
            <p:cNvPicPr preferRelativeResize="0"/>
            <p:nvPr/>
          </p:nvPicPr>
          <p:blipFill>
            <a:blip r:embed="rId4">
              <a:alphaModFix/>
            </a:blip>
            <a:stretch>
              <a:fillRect/>
            </a:stretch>
          </p:blipFill>
          <p:spPr>
            <a:xfrm>
              <a:off x="3847650" y="1962425"/>
              <a:ext cx="831750" cy="413009"/>
            </a:xfrm>
            <a:prstGeom prst="rect">
              <a:avLst/>
            </a:prstGeom>
            <a:noFill/>
            <a:ln>
              <a:noFill/>
            </a:ln>
          </p:spPr>
        </p:pic>
        <p:sp>
          <p:nvSpPr>
            <p:cNvPr id="316" name="Google Shape;316;p28"/>
            <p:cNvSpPr/>
            <p:nvPr/>
          </p:nvSpPr>
          <p:spPr>
            <a:xfrm>
              <a:off x="3695925" y="1629525"/>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317" name="Google Shape;317;p28"/>
          <p:cNvGrpSpPr/>
          <p:nvPr/>
        </p:nvGrpSpPr>
        <p:grpSpPr>
          <a:xfrm>
            <a:off x="5799000" y="948713"/>
            <a:ext cx="1135200" cy="1078800"/>
            <a:chOff x="4004400" y="1746350"/>
            <a:chExt cx="1135200" cy="1078800"/>
          </a:xfrm>
        </p:grpSpPr>
        <p:pic>
          <p:nvPicPr>
            <p:cNvPr id="318" name="Google Shape;318;p28"/>
            <p:cNvPicPr preferRelativeResize="0"/>
            <p:nvPr/>
          </p:nvPicPr>
          <p:blipFill>
            <a:blip r:embed="rId5">
              <a:alphaModFix/>
            </a:blip>
            <a:stretch>
              <a:fillRect/>
            </a:stretch>
          </p:blipFill>
          <p:spPr>
            <a:xfrm>
              <a:off x="4289100" y="1988425"/>
              <a:ext cx="565800" cy="565800"/>
            </a:xfrm>
            <a:prstGeom prst="rect">
              <a:avLst/>
            </a:prstGeom>
            <a:noFill/>
            <a:ln>
              <a:noFill/>
            </a:ln>
          </p:spPr>
        </p:pic>
        <p:sp>
          <p:nvSpPr>
            <p:cNvPr id="319" name="Google Shape;319;p28"/>
            <p:cNvSpPr/>
            <p:nvPr/>
          </p:nvSpPr>
          <p:spPr>
            <a:xfrm>
              <a:off x="4004400" y="1746350"/>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p28"/>
            <p:cNvSpPr/>
            <p:nvPr/>
          </p:nvSpPr>
          <p:spPr>
            <a:xfrm>
              <a:off x="4377600" y="1918552"/>
              <a:ext cx="401700" cy="734400"/>
            </a:xfrm>
            <a:prstGeom prst="rect">
              <a:avLst/>
            </a:prstGeom>
            <a:noFill/>
            <a:ln w="1905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21" name="Google Shape;321;p28"/>
          <p:cNvSpPr txBox="1">
            <a:spLocks noGrp="1"/>
          </p:cNvSpPr>
          <p:nvPr>
            <p:ph type="body" idx="4294967295"/>
          </p:nvPr>
        </p:nvSpPr>
        <p:spPr>
          <a:xfrm>
            <a:off x="381200" y="2122063"/>
            <a:ext cx="1304700" cy="661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a:solidFill>
                  <a:srgbClr val="585858"/>
                </a:solidFill>
              </a:rPr>
              <a:t>Load files  into collab </a:t>
            </a:r>
            <a:endParaRPr sz="1600" b="0">
              <a:solidFill>
                <a:srgbClr val="585858"/>
              </a:solidFill>
            </a:endParaRPr>
          </a:p>
        </p:txBody>
      </p:sp>
      <p:grpSp>
        <p:nvGrpSpPr>
          <p:cNvPr id="322" name="Google Shape;322;p28"/>
          <p:cNvGrpSpPr/>
          <p:nvPr/>
        </p:nvGrpSpPr>
        <p:grpSpPr>
          <a:xfrm>
            <a:off x="4040525" y="948713"/>
            <a:ext cx="1135200" cy="1078800"/>
            <a:chOff x="310875" y="883625"/>
            <a:chExt cx="1135200" cy="1078800"/>
          </a:xfrm>
        </p:grpSpPr>
        <p:sp>
          <p:nvSpPr>
            <p:cNvPr id="323" name="Google Shape;323;p28"/>
            <p:cNvSpPr/>
            <p:nvPr/>
          </p:nvSpPr>
          <p:spPr>
            <a:xfrm>
              <a:off x="310875" y="883625"/>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4" name="Google Shape;324;p28"/>
            <p:cNvPicPr preferRelativeResize="0"/>
            <p:nvPr/>
          </p:nvPicPr>
          <p:blipFill>
            <a:blip r:embed="rId6">
              <a:alphaModFix/>
            </a:blip>
            <a:stretch>
              <a:fillRect/>
            </a:stretch>
          </p:blipFill>
          <p:spPr>
            <a:xfrm>
              <a:off x="462600" y="1012850"/>
              <a:ext cx="831750" cy="820350"/>
            </a:xfrm>
            <a:prstGeom prst="rect">
              <a:avLst/>
            </a:prstGeom>
            <a:noFill/>
            <a:ln>
              <a:noFill/>
            </a:ln>
          </p:spPr>
        </p:pic>
      </p:grpSp>
      <p:sp>
        <p:nvSpPr>
          <p:cNvPr id="325" name="Google Shape;325;p28"/>
          <p:cNvSpPr txBox="1">
            <a:spLocks noGrp="1"/>
          </p:cNvSpPr>
          <p:nvPr>
            <p:ph type="body" idx="4294967295"/>
          </p:nvPr>
        </p:nvSpPr>
        <p:spPr>
          <a:xfrm>
            <a:off x="3875525" y="2122063"/>
            <a:ext cx="1465200" cy="1360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a:solidFill>
                  <a:srgbClr val="585858"/>
                </a:solidFill>
              </a:rPr>
              <a:t>Different lighting changes the classification</a:t>
            </a:r>
            <a:endParaRPr sz="1600" b="0">
              <a:solidFill>
                <a:srgbClr val="585858"/>
              </a:solidFill>
            </a:endParaRPr>
          </a:p>
        </p:txBody>
      </p:sp>
      <p:sp>
        <p:nvSpPr>
          <p:cNvPr id="326" name="Google Shape;326;p28"/>
          <p:cNvSpPr txBox="1">
            <a:spLocks noGrp="1"/>
          </p:cNvSpPr>
          <p:nvPr>
            <p:ph type="body" idx="4294967295"/>
          </p:nvPr>
        </p:nvSpPr>
        <p:spPr>
          <a:xfrm>
            <a:off x="5714250" y="2122063"/>
            <a:ext cx="1304700" cy="1360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a:solidFill>
                  <a:srgbClr val="585858"/>
                </a:solidFill>
              </a:rPr>
              <a:t>YOLO object detection not cropping well for training data images</a:t>
            </a:r>
            <a:endParaRPr sz="1600" b="0">
              <a:solidFill>
                <a:srgbClr val="585858"/>
              </a:solidFill>
            </a:endParaRPr>
          </a:p>
        </p:txBody>
      </p:sp>
      <p:sp>
        <p:nvSpPr>
          <p:cNvPr id="327" name="Google Shape;327;p28"/>
          <p:cNvSpPr txBox="1">
            <a:spLocks noGrp="1"/>
          </p:cNvSpPr>
          <p:nvPr>
            <p:ph type="body" idx="4294967295"/>
          </p:nvPr>
        </p:nvSpPr>
        <p:spPr>
          <a:xfrm>
            <a:off x="1892250" y="3569525"/>
            <a:ext cx="3019500" cy="661800"/>
          </a:xfrm>
          <a:prstGeom prst="rect">
            <a:avLst/>
          </a:prstGeom>
        </p:spPr>
        <p:txBody>
          <a:bodyPr spcFirstLastPara="1" wrap="square" lIns="0" tIns="0" rIns="0" bIns="0" anchor="t" anchorCtr="0">
            <a:noAutofit/>
          </a:bodyPr>
          <a:lstStyle/>
          <a:p>
            <a:pPr marL="0" lvl="0" indent="0" algn="l" rtl="0">
              <a:lnSpc>
                <a:spcPct val="115000"/>
              </a:lnSpc>
              <a:spcBef>
                <a:spcPts val="1200"/>
              </a:spcBef>
              <a:spcAft>
                <a:spcPts val="1200"/>
              </a:spcAft>
              <a:buNone/>
            </a:pPr>
            <a:r>
              <a:rPr lang="en" sz="1600" b="0">
                <a:solidFill>
                  <a:srgbClr val="585858"/>
                </a:solidFill>
              </a:rPr>
              <a:t>GPU resources help speed up training but still takes long</a:t>
            </a:r>
            <a:endParaRPr sz="1600" b="0">
              <a:solidFill>
                <a:srgbClr val="585858"/>
              </a:solidFill>
            </a:endParaRPr>
          </a:p>
        </p:txBody>
      </p:sp>
      <p:sp>
        <p:nvSpPr>
          <p:cNvPr id="328" name="Google Shape;328;p28"/>
          <p:cNvSpPr/>
          <p:nvPr/>
        </p:nvSpPr>
        <p:spPr>
          <a:xfrm>
            <a:off x="7542825" y="948713"/>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9" name="Google Shape;329;p28"/>
          <p:cNvPicPr preferRelativeResize="0"/>
          <p:nvPr/>
        </p:nvPicPr>
        <p:blipFill>
          <a:blip r:embed="rId7">
            <a:alphaModFix/>
          </a:blip>
          <a:stretch>
            <a:fillRect/>
          </a:stretch>
        </p:blipFill>
        <p:spPr>
          <a:xfrm>
            <a:off x="7700838" y="1078525"/>
            <a:ext cx="819175" cy="819175"/>
          </a:xfrm>
          <a:prstGeom prst="rect">
            <a:avLst/>
          </a:prstGeom>
          <a:noFill/>
          <a:ln>
            <a:noFill/>
          </a:ln>
        </p:spPr>
      </p:pic>
      <p:sp>
        <p:nvSpPr>
          <p:cNvPr id="330" name="Google Shape;330;p28"/>
          <p:cNvSpPr txBox="1">
            <a:spLocks noGrp="1"/>
          </p:cNvSpPr>
          <p:nvPr>
            <p:ph type="body" idx="4294967295"/>
          </p:nvPr>
        </p:nvSpPr>
        <p:spPr>
          <a:xfrm>
            <a:off x="7458075" y="2122063"/>
            <a:ext cx="1304700" cy="661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a:solidFill>
                  <a:srgbClr val="585858"/>
                </a:solidFill>
              </a:rPr>
              <a:t>Do not need to process every frame</a:t>
            </a:r>
            <a:endParaRPr sz="1600" b="0">
              <a:solidFill>
                <a:srgbClr val="585858"/>
              </a:solidFill>
            </a:endParaRPr>
          </a:p>
        </p:txBody>
      </p:sp>
      <p:sp>
        <p:nvSpPr>
          <p:cNvPr id="331" name="Google Shape;331;p28"/>
          <p:cNvSpPr/>
          <p:nvPr/>
        </p:nvSpPr>
        <p:spPr>
          <a:xfrm>
            <a:off x="2213113" y="948713"/>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28"/>
          <p:cNvSpPr txBox="1">
            <a:spLocks noGrp="1"/>
          </p:cNvSpPr>
          <p:nvPr>
            <p:ph type="body" idx="4294967295"/>
          </p:nvPr>
        </p:nvSpPr>
        <p:spPr>
          <a:xfrm>
            <a:off x="2128363" y="2122063"/>
            <a:ext cx="1304700" cy="661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600" b="0">
                <a:solidFill>
                  <a:srgbClr val="585858"/>
                </a:solidFill>
              </a:rPr>
              <a:t>Abundance of quality data</a:t>
            </a:r>
            <a:endParaRPr sz="1600" b="0">
              <a:solidFill>
                <a:srgbClr val="585858"/>
              </a:solidFill>
            </a:endParaRPr>
          </a:p>
        </p:txBody>
      </p:sp>
      <p:pic>
        <p:nvPicPr>
          <p:cNvPr id="333" name="Google Shape;333;p28"/>
          <p:cNvPicPr preferRelativeResize="0"/>
          <p:nvPr/>
        </p:nvPicPr>
        <p:blipFill>
          <a:blip r:embed="rId8">
            <a:alphaModFix/>
          </a:blip>
          <a:stretch>
            <a:fillRect/>
          </a:stretch>
        </p:blipFill>
        <p:spPr>
          <a:xfrm>
            <a:off x="2410676" y="1123138"/>
            <a:ext cx="740104" cy="729963"/>
          </a:xfrm>
          <a:prstGeom prst="rect">
            <a:avLst/>
          </a:prstGeom>
          <a:noFill/>
          <a:ln>
            <a:noFill/>
          </a:ln>
        </p:spPr>
      </p:pic>
      <p:sp>
        <p:nvSpPr>
          <p:cNvPr id="2" name="Google Shape;103;p19">
            <a:extLst>
              <a:ext uri="{FF2B5EF4-FFF2-40B4-BE49-F238E27FC236}">
                <a16:creationId xmlns:a16="http://schemas.microsoft.com/office/drawing/2014/main" id="{9410F5B3-871D-7BD4-1663-B5C45EE6C97D}"/>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10</a:t>
            </a:fld>
            <a:endParaRPr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9"/>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What we Learned</a:t>
            </a:r>
            <a:endParaRPr/>
          </a:p>
        </p:txBody>
      </p:sp>
      <p:sp>
        <p:nvSpPr>
          <p:cNvPr id="340" name="Google Shape;340;p29"/>
          <p:cNvSpPr/>
          <p:nvPr/>
        </p:nvSpPr>
        <p:spPr>
          <a:xfrm>
            <a:off x="402675" y="1652500"/>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42;p29"/>
          <p:cNvSpPr txBox="1">
            <a:spLocks noGrp="1"/>
          </p:cNvSpPr>
          <p:nvPr>
            <p:ph type="body" idx="4294967295"/>
          </p:nvPr>
        </p:nvSpPr>
        <p:spPr>
          <a:xfrm>
            <a:off x="95325" y="2884375"/>
            <a:ext cx="1749900" cy="661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800" b="0">
                <a:solidFill>
                  <a:srgbClr val="585858"/>
                </a:solidFill>
              </a:rPr>
              <a:t>Laggy Live-Video Feed</a:t>
            </a:r>
            <a:endParaRPr sz="1800" b="0">
              <a:solidFill>
                <a:srgbClr val="585858"/>
              </a:solidFill>
            </a:endParaRPr>
          </a:p>
        </p:txBody>
      </p:sp>
      <p:pic>
        <p:nvPicPr>
          <p:cNvPr id="343" name="Google Shape;343;p29"/>
          <p:cNvPicPr preferRelativeResize="0"/>
          <p:nvPr/>
        </p:nvPicPr>
        <p:blipFill>
          <a:blip r:embed="rId5">
            <a:alphaModFix/>
          </a:blip>
          <a:stretch>
            <a:fillRect/>
          </a:stretch>
        </p:blipFill>
        <p:spPr>
          <a:xfrm>
            <a:off x="639387" y="1861002"/>
            <a:ext cx="661779" cy="661800"/>
          </a:xfrm>
          <a:prstGeom prst="rect">
            <a:avLst/>
          </a:prstGeom>
          <a:noFill/>
          <a:ln>
            <a:noFill/>
          </a:ln>
        </p:spPr>
      </p:pic>
      <p:sp>
        <p:nvSpPr>
          <p:cNvPr id="2" name="Google Shape;103;p19">
            <a:extLst>
              <a:ext uri="{FF2B5EF4-FFF2-40B4-BE49-F238E27FC236}">
                <a16:creationId xmlns:a16="http://schemas.microsoft.com/office/drawing/2014/main" id="{B5152307-3C77-0D81-37FE-C2236B0D48BC}"/>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11</a:t>
            </a:fld>
            <a:endParaRPr sz="1200" dirty="0"/>
          </a:p>
        </p:txBody>
      </p:sp>
      <p:pic>
        <p:nvPicPr>
          <p:cNvPr id="5" name="laggy clip_130A3EFA-DDFA-4982-9A40-84F2297A58AE.mp4">
            <a:hlinkClick r:id="" action="ppaction://media"/>
            <a:extLst>
              <a:ext uri="{FF2B5EF4-FFF2-40B4-BE49-F238E27FC236}">
                <a16:creationId xmlns:a16="http://schemas.microsoft.com/office/drawing/2014/main" id="{D3610D9D-A0A6-2BE2-150F-3484DE4C27C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081937" y="800189"/>
            <a:ext cx="6917413" cy="38622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0"/>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What we Learned</a:t>
            </a:r>
            <a:endParaRPr/>
          </a:p>
        </p:txBody>
      </p:sp>
      <p:sp>
        <p:nvSpPr>
          <p:cNvPr id="350" name="Google Shape;350;p30"/>
          <p:cNvSpPr/>
          <p:nvPr/>
        </p:nvSpPr>
        <p:spPr>
          <a:xfrm>
            <a:off x="402675" y="1652500"/>
            <a:ext cx="1135200" cy="1078800"/>
          </a:xfrm>
          <a:prstGeom prst="ellipse">
            <a:avLst/>
          </a:prstGeom>
          <a:noFill/>
          <a:ln w="38100" cap="flat" cmpd="sng">
            <a:solidFill>
              <a:srgbClr val="002E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 name="Google Shape;351;p30"/>
          <p:cNvSpPr txBox="1">
            <a:spLocks noGrp="1"/>
          </p:cNvSpPr>
          <p:nvPr>
            <p:ph type="body" idx="4294967295"/>
          </p:nvPr>
        </p:nvSpPr>
        <p:spPr>
          <a:xfrm>
            <a:off x="95325" y="2884375"/>
            <a:ext cx="1749900" cy="661800"/>
          </a:xfrm>
          <a:prstGeom prst="rect">
            <a:avLst/>
          </a:prstGeom>
        </p:spPr>
        <p:txBody>
          <a:bodyPr spcFirstLastPara="1" wrap="square" lIns="0" tIns="0" rIns="0" bIns="0" anchor="t" anchorCtr="0">
            <a:noAutofit/>
          </a:bodyPr>
          <a:lstStyle/>
          <a:p>
            <a:pPr marL="0" lvl="0" indent="0" algn="ctr" rtl="0">
              <a:lnSpc>
                <a:spcPct val="115000"/>
              </a:lnSpc>
              <a:spcBef>
                <a:spcPts val="1200"/>
              </a:spcBef>
              <a:spcAft>
                <a:spcPts val="1200"/>
              </a:spcAft>
              <a:buNone/>
            </a:pPr>
            <a:r>
              <a:rPr lang="en" sz="1800" b="0">
                <a:solidFill>
                  <a:srgbClr val="585858"/>
                </a:solidFill>
              </a:rPr>
              <a:t>Reflections lead to no YOLO detection</a:t>
            </a:r>
            <a:endParaRPr sz="1800" b="0">
              <a:solidFill>
                <a:srgbClr val="585858"/>
              </a:solidFill>
            </a:endParaRPr>
          </a:p>
        </p:txBody>
      </p:sp>
      <p:pic>
        <p:nvPicPr>
          <p:cNvPr id="353" name="Google Shape;353;p30"/>
          <p:cNvPicPr preferRelativeResize="0"/>
          <p:nvPr/>
        </p:nvPicPr>
        <p:blipFill>
          <a:blip r:embed="rId5">
            <a:alphaModFix/>
          </a:blip>
          <a:stretch>
            <a:fillRect/>
          </a:stretch>
        </p:blipFill>
        <p:spPr>
          <a:xfrm>
            <a:off x="596088" y="1817707"/>
            <a:ext cx="748375" cy="748375"/>
          </a:xfrm>
          <a:prstGeom prst="rect">
            <a:avLst/>
          </a:prstGeom>
          <a:noFill/>
          <a:ln>
            <a:noFill/>
          </a:ln>
        </p:spPr>
      </p:pic>
      <p:sp>
        <p:nvSpPr>
          <p:cNvPr id="2" name="Google Shape;103;p19">
            <a:extLst>
              <a:ext uri="{FF2B5EF4-FFF2-40B4-BE49-F238E27FC236}">
                <a16:creationId xmlns:a16="http://schemas.microsoft.com/office/drawing/2014/main" id="{A1A6DB9F-BD35-28BB-2F10-8F83805D785B}"/>
              </a:ext>
            </a:extLst>
          </p:cNvPr>
          <p:cNvSpPr txBox="1">
            <a:spLocks noGrp="1"/>
          </p:cNvSpPr>
          <p:nvPr>
            <p:ph type="sldNum" idx="12"/>
          </p:nvPr>
        </p:nvSpPr>
        <p:spPr>
          <a:xfrm>
            <a:off x="8406003" y="4955717"/>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dirty="0"/>
              <a:t>Page </a:t>
            </a:r>
            <a:fld id="{00000000-1234-1234-1234-123412341234}" type="slidenum">
              <a:rPr lang="en" sz="1200"/>
              <a:t>12</a:t>
            </a:fld>
            <a:endParaRPr sz="1200" dirty="0"/>
          </a:p>
        </p:txBody>
      </p:sp>
      <p:pic>
        <p:nvPicPr>
          <p:cNvPr id="3" name="reflection_95D21078-61AF-4E69-9EB1-15544757C0EA.mp4">
            <a:hlinkClick r:id="" action="ppaction://media"/>
            <a:extLst>
              <a:ext uri="{FF2B5EF4-FFF2-40B4-BE49-F238E27FC236}">
                <a16:creationId xmlns:a16="http://schemas.microsoft.com/office/drawing/2014/main" id="{028CC0DD-D558-8C79-CF7A-C319BE60AA0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038638" y="772363"/>
            <a:ext cx="7010037" cy="39431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6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357"/>
        <p:cNvGrpSpPr/>
        <p:nvPr/>
      </p:nvGrpSpPr>
      <p:grpSpPr>
        <a:xfrm>
          <a:off x="0" y="0"/>
          <a:ext cx="0" cy="0"/>
          <a:chOff x="0" y="0"/>
          <a:chExt cx="0" cy="0"/>
        </a:xfrm>
      </p:grpSpPr>
      <p:sp>
        <p:nvSpPr>
          <p:cNvPr id="358" name="Google Shape;358;p31"/>
          <p:cNvSpPr txBox="1">
            <a:spLocks noGrp="1"/>
          </p:cNvSpPr>
          <p:nvPr>
            <p:ph type="title"/>
          </p:nvPr>
        </p:nvSpPr>
        <p:spPr>
          <a:xfrm>
            <a:off x="494508" y="171650"/>
            <a:ext cx="8477400" cy="381900"/>
          </a:xfrm>
          <a:prstGeom prst="rect">
            <a:avLst/>
          </a:prstGeom>
          <a:noFill/>
          <a:ln>
            <a:noFill/>
          </a:ln>
        </p:spPr>
        <p:txBody>
          <a:bodyPr spcFirstLastPara="1" wrap="square" lIns="0" tIns="12375" rIns="0" bIns="0" anchor="t" anchorCtr="0">
            <a:spAutoFit/>
          </a:bodyPr>
          <a:lstStyle/>
          <a:p>
            <a:pPr marL="12700" lvl="0" indent="0" algn="l" rtl="0">
              <a:lnSpc>
                <a:spcPct val="100000"/>
              </a:lnSpc>
              <a:spcBef>
                <a:spcPts val="0"/>
              </a:spcBef>
              <a:spcAft>
                <a:spcPts val="0"/>
              </a:spcAft>
              <a:buNone/>
            </a:pPr>
            <a:r>
              <a:rPr lang="en"/>
              <a:t>What we Learned</a:t>
            </a:r>
            <a:endParaRPr/>
          </a:p>
        </p:txBody>
      </p:sp>
      <p:sp>
        <p:nvSpPr>
          <p:cNvPr id="359" name="Google Shape;359;p31"/>
          <p:cNvSpPr txBox="1">
            <a:spLocks noGrp="1"/>
          </p:cNvSpPr>
          <p:nvPr>
            <p:ph type="body" idx="4294967295"/>
          </p:nvPr>
        </p:nvSpPr>
        <p:spPr>
          <a:xfrm>
            <a:off x="249300" y="982275"/>
            <a:ext cx="8645400" cy="3467400"/>
          </a:xfrm>
          <a:prstGeom prst="rect">
            <a:avLst/>
          </a:prstGeom>
        </p:spPr>
        <p:txBody>
          <a:bodyPr spcFirstLastPara="1" wrap="square" lIns="0" tIns="0" rIns="0" bIns="0" anchor="t" anchorCtr="0">
            <a:noAutofit/>
          </a:bodyPr>
          <a:lstStyle/>
          <a:p>
            <a:pPr marL="457200" lvl="0" indent="-342900" algn="l" rtl="0">
              <a:lnSpc>
                <a:spcPct val="115000"/>
              </a:lnSpc>
              <a:spcBef>
                <a:spcPts val="1200"/>
              </a:spcBef>
              <a:spcAft>
                <a:spcPts val="0"/>
              </a:spcAft>
              <a:buClr>
                <a:srgbClr val="585858"/>
              </a:buClr>
              <a:buSzPts val="1800"/>
              <a:buChar char="●"/>
            </a:pPr>
            <a:r>
              <a:rPr lang="en" sz="1800" b="0" strike="sngStrike">
                <a:solidFill>
                  <a:srgbClr val="585858"/>
                </a:solidFill>
              </a:rPr>
              <a:t>Load files into Google collab notebook session (faster) rather than developing the code in a way that pulls the files from Google Drive (slower)</a:t>
            </a:r>
            <a:endParaRPr sz="1800" b="0" strike="sngStrike">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strike="sngStrike">
                <a:solidFill>
                  <a:srgbClr val="585858"/>
                </a:solidFill>
              </a:rPr>
              <a:t>Even on GPU and transfer learning, the model takes a long time to train, so having access to more GPU compute resources was extremely helpful</a:t>
            </a:r>
            <a:endParaRPr sz="1800" b="0" strike="sngStrike">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strike="sngStrike">
                <a:solidFill>
                  <a:srgbClr val="585858"/>
                </a:solidFill>
              </a:rPr>
              <a:t>YOLO has a difficult time tracking images and is quite laggy</a:t>
            </a:r>
            <a:endParaRPr sz="1800" b="0" strike="sngStrike">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a:solidFill>
                  <a:srgbClr val="585858"/>
                </a:solidFill>
              </a:rPr>
              <a:t>For each object when classified, before modifications we found that the live video detection flickers between different classifications, so need to modify it</a:t>
            </a:r>
            <a:endParaRPr sz="1800" b="0">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strike="sngStrike">
                <a:solidFill>
                  <a:srgbClr val="585858"/>
                </a:solidFill>
              </a:rPr>
              <a:t>The classification of the same image tends to change depending on the angle that the object is held and how light hits it</a:t>
            </a:r>
            <a:endParaRPr sz="1800" b="0" strike="sngStrike">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strike="sngStrike">
                <a:solidFill>
                  <a:srgbClr val="585858"/>
                </a:solidFill>
              </a:rPr>
              <a:t>Objects that are reflective are not working for YOLO to detect the object properly</a:t>
            </a:r>
            <a:endParaRPr sz="1800" b="0" strike="sngStrike">
              <a:solidFill>
                <a:srgbClr val="585858"/>
              </a:solidFill>
            </a:endParaRPr>
          </a:p>
          <a:p>
            <a:pPr marL="457200" lvl="0" indent="-342900" algn="l" rtl="0">
              <a:lnSpc>
                <a:spcPct val="115000"/>
              </a:lnSpc>
              <a:spcBef>
                <a:spcPts val="0"/>
              </a:spcBef>
              <a:spcAft>
                <a:spcPts val="0"/>
              </a:spcAft>
              <a:buClr>
                <a:srgbClr val="585858"/>
              </a:buClr>
              <a:buSzPts val="1800"/>
              <a:buChar char="●"/>
            </a:pPr>
            <a:r>
              <a:rPr lang="en" sz="1800" b="0" strike="sngStrike">
                <a:solidFill>
                  <a:srgbClr val="585858"/>
                </a:solidFill>
              </a:rPr>
              <a:t>Processing every frame is overkill - leading to slower processing</a:t>
            </a:r>
            <a:endParaRPr sz="1800" b="0" strike="sngStrike">
              <a:solidFill>
                <a:srgbClr val="585858"/>
              </a:solidFill>
            </a:endParaRPr>
          </a:p>
          <a:p>
            <a:pPr marL="0" lvl="0" indent="0" algn="l" rtl="0">
              <a:lnSpc>
                <a:spcPct val="115000"/>
              </a:lnSpc>
              <a:spcBef>
                <a:spcPts val="1200"/>
              </a:spcBef>
              <a:spcAft>
                <a:spcPts val="1200"/>
              </a:spcAft>
              <a:buNone/>
            </a:pPr>
            <a:endParaRPr sz="1800" b="0">
              <a:solidFill>
                <a:srgbClr val="585858"/>
              </a:solidFill>
            </a:endParaRPr>
          </a:p>
        </p:txBody>
      </p:sp>
      <p:sp>
        <p:nvSpPr>
          <p:cNvPr id="360" name="Google Shape;360;p31"/>
          <p:cNvSpPr txBox="1">
            <a:spLocks noGrp="1"/>
          </p:cNvSpPr>
          <p:nvPr>
            <p:ph type="sldNum" idx="12"/>
          </p:nvPr>
        </p:nvSpPr>
        <p:spPr>
          <a:xfrm>
            <a:off x="8406003" y="4868629"/>
            <a:ext cx="565800" cy="261600"/>
          </a:xfrm>
          <a:prstGeom prst="rect">
            <a:avLst/>
          </a:prstGeom>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
              <a:t>Page </a:t>
            </a:r>
            <a:fld id="{00000000-1234-1234-1234-123412341234}" type="slidenum">
              <a:rPr lang="en" sz="1200"/>
              <a:t>13</a:t>
            </a:fld>
            <a:endParaRPr sz="12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2.8|0.6|0.5|0.6|0.7|1.3|0.3|0.2"/>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1728</Words>
  <Application>Microsoft Office PowerPoint</Application>
  <PresentationFormat>On-screen Show (16:9)</PresentationFormat>
  <Paragraphs>163</Paragraphs>
  <Slides>13</Slides>
  <Notes>13</Notes>
  <HiddenSlides>1</HiddenSlides>
  <MMClips>5</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Libre Franklin Medium</vt:lpstr>
      <vt:lpstr>Impact</vt:lpstr>
      <vt:lpstr>Lato</vt:lpstr>
      <vt:lpstr>Simple Light</vt:lpstr>
      <vt:lpstr>Office Theme</vt:lpstr>
      <vt:lpstr>Trash Classification Model  A neural network for classifying images of trash</vt:lpstr>
      <vt:lpstr>Problem</vt:lpstr>
      <vt:lpstr>Problem</vt:lpstr>
      <vt:lpstr>Solution</vt:lpstr>
      <vt:lpstr>End-to-End Pipeline</vt:lpstr>
      <vt:lpstr>Demonstration</vt:lpstr>
      <vt:lpstr>Quantitative Results: Train &amp; Validation Curves</vt:lpstr>
      <vt:lpstr>Quantitative Results: Test Metrics</vt:lpstr>
      <vt:lpstr>Qualitative Results</vt:lpstr>
      <vt:lpstr>What we Learned</vt:lpstr>
      <vt:lpstr>What we Learned</vt:lpstr>
      <vt:lpstr>What we Learned</vt:lpstr>
      <vt:lpstr>What we Learned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The Minh Nguyen</cp:lastModifiedBy>
  <cp:revision>4</cp:revision>
  <dcterms:modified xsi:type="dcterms:W3CDTF">2025-11-25T21:35:16Z</dcterms:modified>
</cp:coreProperties>
</file>